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8" r:id="rId3"/>
    <p:sldId id="288" r:id="rId4"/>
    <p:sldId id="289" r:id="rId5"/>
    <p:sldId id="290" r:id="rId6"/>
    <p:sldId id="291" r:id="rId7"/>
    <p:sldId id="293" r:id="rId8"/>
    <p:sldId id="295" r:id="rId9"/>
    <p:sldId id="298" r:id="rId10"/>
    <p:sldId id="303" r:id="rId11"/>
    <p:sldId id="306" r:id="rId12"/>
    <p:sldId id="297" r:id="rId13"/>
    <p:sldId id="296" r:id="rId14"/>
    <p:sldId id="299" r:id="rId15"/>
    <p:sldId id="300" r:id="rId16"/>
    <p:sldId id="305" r:id="rId17"/>
    <p:sldId id="313" r:id="rId18"/>
    <p:sldId id="316" r:id="rId19"/>
    <p:sldId id="323" r:id="rId20"/>
    <p:sldId id="321" r:id="rId21"/>
    <p:sldId id="325" r:id="rId22"/>
  </p:sldIdLst>
  <p:sldSz cx="9144000" cy="5143500" type="screen16x9"/>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798" autoAdjust="0"/>
  </p:normalViewPr>
  <p:slideViewPr>
    <p:cSldViewPr>
      <p:cViewPr>
        <p:scale>
          <a:sx n="66" d="100"/>
          <a:sy n="66" d="100"/>
        </p:scale>
        <p:origin x="-1650" y="-576"/>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7D41E9-C99D-4A25-B952-51B8623EFDC1}" type="datetimeFigureOut">
              <a:rPr lang="ru-RU" smtClean="0"/>
              <a:pPr/>
              <a:t>14.02.2026</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BB9ED6-4F15-4D46-A6CE-E8E184142EF0}"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FDBB9ED6-4F15-4D46-A6CE-E8E184142EF0}" type="slidenum">
              <a:rPr lang="ru-RU" smtClean="0"/>
              <a:pPr/>
              <a:t>18</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1597819"/>
            <a:ext cx="7772400" cy="1102519"/>
          </a:xfrm>
        </p:spPr>
        <p:txBody>
          <a:bodyPr/>
          <a:lstStyle/>
          <a:p>
            <a:r>
              <a:rPr lang="ru-RU"/>
              <a:t>Образец заголовка</a:t>
            </a:r>
          </a:p>
        </p:txBody>
      </p:sp>
      <p:sp>
        <p:nvSpPr>
          <p:cNvPr id="3" name="Подзаголовок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3305176"/>
            <a:ext cx="7772400" cy="1021556"/>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05979"/>
            <a:ext cx="8229600" cy="85725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1" y="204787"/>
            <a:ext cx="3008313" cy="871538"/>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3600450"/>
            <a:ext cx="5486400" cy="425054"/>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154781"/>
            <a:ext cx="2057400" cy="329088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154781"/>
            <a:ext cx="6019800" cy="329088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7674D81-B027-495F-AF34-9902C109CCE6}" type="datetimeFigureOut">
              <a:rPr lang="ru-RU" smtClean="0"/>
              <a:pPr/>
              <a:t>14.02.2026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1B926EA-C9E7-4258-B4F0-7E7C711C9FB4}"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27674D81-B027-495F-AF34-9902C109CCE6}" type="datetimeFigureOut">
              <a:rPr lang="ru-RU" smtClean="0"/>
              <a:pPr/>
              <a:t>14.02.2026</a:t>
            </a:fld>
            <a:endParaRPr lang="ru-RU"/>
          </a:p>
        </p:txBody>
      </p:sp>
      <p:sp>
        <p:nvSpPr>
          <p:cNvPr id="5" name="Нижний колонтитул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1B926EA-C9E7-4258-B4F0-7E7C711C9FB4}"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gif"/></Relationships>
</file>

<file path=ppt/slides/_rels/slide11.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0" y="1757263"/>
            <a:ext cx="9144000" cy="1102519"/>
          </a:xfrm>
        </p:spPr>
        <p:txBody>
          <a:bodyPr>
            <a:noAutofit/>
          </a:bodyPr>
          <a:lstStyle/>
          <a:p>
            <a:r>
              <a:rPr lang="ru-RU" sz="3200" dirty="0"/>
              <a:t>Алгоритмы сортировки массива: классификация.</a:t>
            </a:r>
            <a:r>
              <a:rPr lang="en-US" sz="3200" dirty="0"/>
              <a:t/>
            </a:r>
            <a:br>
              <a:rPr lang="en-US" sz="3200" dirty="0"/>
            </a:br>
            <a:r>
              <a:rPr lang="ru-RU" sz="3200" dirty="0"/>
              <a:t>Примеры алгоритмов сортировки за полиномиальное время.</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2008" y="483518"/>
            <a:ext cx="8964488" cy="4647426"/>
          </a:xfrm>
          <a:prstGeom prst="rect">
            <a:avLst/>
          </a:prstGeom>
        </p:spPr>
        <p:txBody>
          <a:bodyPr wrap="square">
            <a:spAutoFit/>
          </a:bodyPr>
          <a:lstStyle/>
          <a:p>
            <a:r>
              <a:rPr lang="ru-RU" sz="1600" b="1" dirty="0"/>
              <a:t>Сортировка</a:t>
            </a:r>
            <a:r>
              <a:rPr lang="ru-RU" sz="1600" dirty="0"/>
              <a:t> — это переупорядочивание заданного массива или списка элементов в определённом порядке, по возрастанию, по убыванию или в любом другом порядке, заданном пользователем, например, сортировка строк по длине. Алгоритмы сортировки широко используются в поиске, базах данных, стратегиях «разделяй и властвуй» и структурах данных.</a:t>
            </a:r>
          </a:p>
          <a:p>
            <a:endParaRPr lang="ru-RU" sz="800" dirty="0"/>
          </a:p>
          <a:p>
            <a:r>
              <a:rPr lang="ru-RU" sz="1600" b="1" dirty="0"/>
              <a:t>Основные области применения:</a:t>
            </a:r>
          </a:p>
          <a:p>
            <a:pPr>
              <a:buFont typeface="Calibri" pitchFamily="34" charset="0"/>
              <a:buChar char="‐"/>
            </a:pPr>
            <a:r>
              <a:rPr lang="ru-RU" sz="1600" dirty="0"/>
              <a:t>Организация больших наборов данных для упрощения обработки и печати</a:t>
            </a:r>
          </a:p>
          <a:p>
            <a:pPr>
              <a:buFont typeface="Calibri" pitchFamily="34" charset="0"/>
              <a:buChar char="‐"/>
            </a:pPr>
            <a:r>
              <a:rPr lang="ru-RU" sz="1600" dirty="0"/>
              <a:t>Быстрый доступ к </a:t>
            </a:r>
            <a:r>
              <a:rPr lang="ru-RU" sz="1600" dirty="0" err="1"/>
              <a:t>k-му</a:t>
            </a:r>
            <a:r>
              <a:rPr lang="ru-RU" sz="1600" dirty="0"/>
              <a:t> наименьшему или наибольшему элементу</a:t>
            </a:r>
          </a:p>
          <a:p>
            <a:pPr>
              <a:buFont typeface="Calibri" pitchFamily="34" charset="0"/>
              <a:buChar char="‐"/>
            </a:pPr>
            <a:r>
              <a:rPr lang="ru-RU" sz="1600" dirty="0"/>
              <a:t>Возможность бинарного поиска для быстрого поиска в отсортированных данных</a:t>
            </a:r>
          </a:p>
          <a:p>
            <a:pPr>
              <a:buFont typeface="Calibri" pitchFamily="34" charset="0"/>
              <a:buChar char="‐"/>
            </a:pPr>
            <a:r>
              <a:rPr lang="ru-RU" sz="1600" dirty="0"/>
              <a:t>Решение сложных задач как в программном обеспечении, так и в разработке алгоритмов</a:t>
            </a:r>
            <a:endParaRPr lang="en-US" sz="1600" dirty="0"/>
          </a:p>
          <a:p>
            <a:pPr>
              <a:buFont typeface="Calibri" pitchFamily="34" charset="0"/>
              <a:buChar char="‐"/>
            </a:pPr>
            <a:endParaRPr lang="en-US" sz="800" dirty="0"/>
          </a:p>
          <a:p>
            <a:r>
              <a:rPr lang="ru-RU" sz="1600" dirty="0"/>
              <a:t>Сортировка предусмотрена в библиотечных реализациях большинства языков программирования. Эти функции сортировки, как правило, являются функциями общего назначения, обладающими гибкостью задания ожидаемого порядка сортировки (по возрастанию, по убыванию или по определённому ключу в случае объектов).</a:t>
            </a:r>
          </a:p>
          <a:p>
            <a:endParaRPr lang="ru-RU" sz="800" dirty="0"/>
          </a:p>
          <a:p>
            <a:r>
              <a:rPr lang="ru-RU" sz="1600" dirty="0"/>
              <a:t>Алгоритмы также могут различаться в зависимости от требований к выходным данным. Например, сортировка может быть устойчивой (сохранение исходного порядка одинаковых элементов) или нестабильной.</a:t>
            </a:r>
          </a:p>
          <a:p>
            <a:pPr>
              <a:buFont typeface="Calibri" pitchFamily="34" charset="0"/>
              <a:buChar char="‐"/>
            </a:pPr>
            <a:endParaRPr lang="ru-RU" sz="1600" dirty="0"/>
          </a:p>
        </p:txBody>
      </p:sp>
      <p:sp>
        <p:nvSpPr>
          <p:cNvPr id="7" name="Заголовок 1"/>
          <p:cNvSpPr>
            <a:spLocks noGrp="1"/>
          </p:cNvSpPr>
          <p:nvPr>
            <p:ph type="title"/>
          </p:nvPr>
        </p:nvSpPr>
        <p:spPr>
          <a:xfrm>
            <a:off x="0" y="-164554"/>
            <a:ext cx="9144000" cy="857250"/>
          </a:xfrm>
        </p:spPr>
        <p:txBody>
          <a:bodyPr>
            <a:normAutofit/>
          </a:bodyPr>
          <a:lstStyle/>
          <a:p>
            <a:r>
              <a:rPr lang="ru-RU" sz="3600" dirty="0"/>
              <a:t>Алгоритмы сортировки массива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07504" y="555526"/>
            <a:ext cx="8784976" cy="369332"/>
          </a:xfrm>
          <a:prstGeom prst="rect">
            <a:avLst/>
          </a:prstGeom>
        </p:spPr>
        <p:txBody>
          <a:bodyPr wrap="square">
            <a:spAutoFit/>
          </a:bodyPr>
          <a:lstStyle/>
          <a:p>
            <a:pPr marL="342900" lvl="0" indent="-342900"/>
            <a:r>
              <a:rPr lang="ru-RU" b="1" u="sng" dirty="0"/>
              <a:t>1. По потребности в дополнительной памяти</a:t>
            </a:r>
            <a:r>
              <a:rPr lang="en-US" b="1" u="sng" dirty="0"/>
              <a:t>:</a:t>
            </a:r>
            <a:r>
              <a:rPr lang="en-US" b="1" dirty="0"/>
              <a:t> </a:t>
            </a:r>
            <a:r>
              <a:rPr lang="ru-RU" b="1" i="1" dirty="0"/>
              <a:t>«</a:t>
            </a:r>
            <a:r>
              <a:rPr lang="en-US" b="1" i="1" dirty="0"/>
              <a:t>Not I</a:t>
            </a:r>
            <a:r>
              <a:rPr lang="ru-RU" b="1" i="1" dirty="0" err="1"/>
              <a:t>n-place</a:t>
            </a:r>
            <a:r>
              <a:rPr lang="ru-RU" b="1" i="1" dirty="0"/>
              <a:t>»</a:t>
            </a:r>
            <a:r>
              <a:rPr lang="en-US" b="1" i="1" dirty="0"/>
              <a:t> </a:t>
            </a:r>
            <a:r>
              <a:rPr lang="ru-RU" b="1" i="1" dirty="0"/>
              <a:t>и «</a:t>
            </a:r>
            <a:r>
              <a:rPr lang="en-US" b="1" i="1" dirty="0"/>
              <a:t>I</a:t>
            </a:r>
            <a:r>
              <a:rPr lang="ru-RU" b="1" i="1" dirty="0" err="1"/>
              <a:t>n-place</a:t>
            </a:r>
            <a:r>
              <a:rPr lang="ru-RU" b="1" i="1" dirty="0"/>
              <a:t>» алгоритмы.</a:t>
            </a:r>
            <a:endParaRPr lang="ru-RU" b="1" u="sng" dirty="0"/>
          </a:p>
        </p:txBody>
      </p:sp>
      <p:sp>
        <p:nvSpPr>
          <p:cNvPr id="13" name="Заголовок 1"/>
          <p:cNvSpPr txBox="1">
            <a:spLocks/>
          </p:cNvSpPr>
          <p:nvPr/>
        </p:nvSpPr>
        <p:spPr>
          <a:xfrm>
            <a:off x="0" y="-85700"/>
            <a:ext cx="9144000" cy="857250"/>
          </a:xfrm>
          <a:prstGeom prst="rect">
            <a:avLst/>
          </a:prstGeom>
        </p:spPr>
        <p:txBody>
          <a:bodyPr vert="horz" lIns="91440" tIns="45720" rIns="91440" bIns="45720" rtlCol="0" anchor="ct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3600" b="0" i="0" u="none" strike="noStrike" kern="1200" cap="none" spc="0" normalizeH="0" baseline="0" noProof="0" dirty="0">
                <a:ln>
                  <a:noFill/>
                </a:ln>
                <a:solidFill>
                  <a:schemeClr val="tx1"/>
                </a:solidFill>
                <a:effectLst/>
                <a:uLnTx/>
                <a:uFillTx/>
                <a:latin typeface="+mj-lt"/>
                <a:ea typeface="+mj-ea"/>
                <a:cs typeface="+mj-cs"/>
              </a:rPr>
              <a:t>Классификация алгоритмов сортировки массива</a:t>
            </a:r>
          </a:p>
        </p:txBody>
      </p:sp>
      <p:sp>
        <p:nvSpPr>
          <p:cNvPr id="16" name="Прямоугольник 15"/>
          <p:cNvSpPr/>
          <p:nvPr/>
        </p:nvSpPr>
        <p:spPr>
          <a:xfrm>
            <a:off x="108520" y="977696"/>
            <a:ext cx="8855968" cy="3970318"/>
          </a:xfrm>
          <a:prstGeom prst="rect">
            <a:avLst/>
          </a:prstGeom>
        </p:spPr>
        <p:txBody>
          <a:bodyPr wrap="square">
            <a:spAutoFit/>
          </a:bodyPr>
          <a:lstStyle/>
          <a:p>
            <a:r>
              <a:rPr lang="ru-RU" dirty="0"/>
              <a:t>У термина «</a:t>
            </a:r>
            <a:r>
              <a:rPr lang="ru-RU" dirty="0" err="1"/>
              <a:t>in-place</a:t>
            </a:r>
            <a:r>
              <a:rPr lang="ru-RU" dirty="0"/>
              <a:t>» есть несколько определений. </a:t>
            </a:r>
            <a:r>
              <a:rPr lang="ru-RU" i="1" dirty="0"/>
              <a:t>Одно строгое определение:</a:t>
            </a:r>
          </a:p>
          <a:p>
            <a:endParaRPr lang="ru-RU" dirty="0"/>
          </a:p>
          <a:p>
            <a:r>
              <a:rPr lang="ru-RU" b="1" dirty="0"/>
              <a:t>Алгоритм «</a:t>
            </a:r>
            <a:r>
              <a:rPr lang="ru-RU" b="1" dirty="0" err="1"/>
              <a:t>in-place</a:t>
            </a:r>
            <a:r>
              <a:rPr lang="ru-RU" b="1" dirty="0"/>
              <a:t>» </a:t>
            </a:r>
            <a:r>
              <a:rPr lang="ru-RU" dirty="0"/>
              <a:t>— это алгоритм, которому не требуется дополнительная память и который создаёт выходные данные в той же памяти, что и входные данные, преобразуя их «на месте». Однако допускается небольшое постоянное дополнительное пространство для переменных.</a:t>
            </a:r>
          </a:p>
          <a:p>
            <a:endParaRPr lang="ru-RU" dirty="0"/>
          </a:p>
          <a:p>
            <a:r>
              <a:rPr lang="ru-RU" i="1" dirty="0"/>
              <a:t>Более широкое определение:</a:t>
            </a:r>
          </a:p>
          <a:p>
            <a:endParaRPr lang="ru-RU" dirty="0"/>
          </a:p>
          <a:p>
            <a:r>
              <a:rPr lang="ru-RU" b="1" dirty="0"/>
              <a:t>«</a:t>
            </a:r>
            <a:r>
              <a:rPr lang="ru-RU" b="1" dirty="0" err="1"/>
              <a:t>in-place</a:t>
            </a:r>
            <a:r>
              <a:rPr lang="ru-RU" b="1" dirty="0"/>
              <a:t>» </a:t>
            </a:r>
            <a:r>
              <a:rPr lang="ru-RU" dirty="0"/>
              <a:t>означает, что алгоритм не использует дополнительную память для обработки входных данных, но может потребовать небольшое, хотя и непостоянное, дополнительное пространство для своей работы. Обычно это пространство составляет O(</a:t>
            </a:r>
            <a:r>
              <a:rPr lang="ru-RU" dirty="0" err="1"/>
              <a:t>log</a:t>
            </a:r>
            <a:r>
              <a:rPr lang="ru-RU" dirty="0"/>
              <a:t> </a:t>
            </a:r>
            <a:r>
              <a:rPr lang="ru-RU" dirty="0" err="1"/>
              <a:t>n</a:t>
            </a:r>
            <a:r>
              <a:rPr lang="ru-RU" dirty="0"/>
              <a:t>), хотя иногда допускается любое значение в O(</a:t>
            </a:r>
            <a:r>
              <a:rPr lang="ru-RU" dirty="0" err="1"/>
              <a:t>n</a:t>
            </a:r>
            <a:r>
              <a:rPr lang="ru-RU" dirty="0"/>
              <a:t>) (меньшее, чем линейное).</a:t>
            </a:r>
          </a:p>
          <a:p>
            <a:endParaRPr lang="ru-R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7" name="Picture 3" descr="In-Place Algorithm"/>
          <p:cNvPicPr>
            <a:picLocks noChangeAspect="1" noChangeArrowheads="1"/>
          </p:cNvPicPr>
          <p:nvPr/>
        </p:nvPicPr>
        <p:blipFill>
          <a:blip r:embed="rId2" cstate="print"/>
          <a:srcRect/>
          <a:stretch>
            <a:fillRect/>
          </a:stretch>
        </p:blipFill>
        <p:spPr bwMode="auto">
          <a:xfrm>
            <a:off x="3446595" y="3399942"/>
            <a:ext cx="2175381" cy="828000"/>
          </a:xfrm>
          <a:prstGeom prst="rect">
            <a:avLst/>
          </a:prstGeom>
          <a:noFill/>
        </p:spPr>
      </p:pic>
      <p:pic>
        <p:nvPicPr>
          <p:cNvPr id="47108" name="Picture 4" descr="In-Place Algorithm"/>
          <p:cNvPicPr>
            <a:picLocks noChangeAspect="1" noChangeArrowheads="1"/>
          </p:cNvPicPr>
          <p:nvPr/>
        </p:nvPicPr>
        <p:blipFill>
          <a:blip r:embed="rId3" cstate="print"/>
          <a:srcRect/>
          <a:stretch>
            <a:fillRect/>
          </a:stretch>
        </p:blipFill>
        <p:spPr bwMode="auto">
          <a:xfrm>
            <a:off x="6141035" y="3399942"/>
            <a:ext cx="2175381" cy="828000"/>
          </a:xfrm>
          <a:prstGeom prst="rect">
            <a:avLst/>
          </a:prstGeom>
          <a:noFill/>
        </p:spPr>
      </p:pic>
      <p:pic>
        <p:nvPicPr>
          <p:cNvPr id="47106" name="Picture 2" descr="In-Place Algorithm"/>
          <p:cNvPicPr>
            <a:picLocks noChangeAspect="1" noChangeArrowheads="1"/>
          </p:cNvPicPr>
          <p:nvPr/>
        </p:nvPicPr>
        <p:blipFill>
          <a:blip r:embed="rId4" cstate="print"/>
          <a:srcRect/>
          <a:stretch>
            <a:fillRect/>
          </a:stretch>
        </p:blipFill>
        <p:spPr bwMode="auto">
          <a:xfrm>
            <a:off x="752156" y="3399942"/>
            <a:ext cx="2175380" cy="828000"/>
          </a:xfrm>
          <a:prstGeom prst="rect">
            <a:avLst/>
          </a:prstGeom>
          <a:noFill/>
        </p:spPr>
      </p:pic>
      <p:pic>
        <p:nvPicPr>
          <p:cNvPr id="10" name="Picture 6" descr="In-Place Algorithm"/>
          <p:cNvPicPr>
            <a:picLocks noChangeAspect="1" noChangeArrowheads="1"/>
          </p:cNvPicPr>
          <p:nvPr/>
        </p:nvPicPr>
        <p:blipFill>
          <a:blip r:embed="rId5" cstate="print"/>
          <a:srcRect/>
          <a:stretch>
            <a:fillRect/>
          </a:stretch>
        </p:blipFill>
        <p:spPr bwMode="auto">
          <a:xfrm>
            <a:off x="3635896" y="987574"/>
            <a:ext cx="1836000" cy="1145102"/>
          </a:xfrm>
          <a:prstGeom prst="rect">
            <a:avLst/>
          </a:prstGeom>
          <a:noFill/>
        </p:spPr>
      </p:pic>
      <p:pic>
        <p:nvPicPr>
          <p:cNvPr id="11" name="Picture 7" descr="In-Place Algorithm"/>
          <p:cNvPicPr>
            <a:picLocks noChangeAspect="1" noChangeArrowheads="1"/>
          </p:cNvPicPr>
          <p:nvPr/>
        </p:nvPicPr>
        <p:blipFill>
          <a:blip r:embed="rId6" cstate="print"/>
          <a:srcRect/>
          <a:stretch>
            <a:fillRect/>
          </a:stretch>
        </p:blipFill>
        <p:spPr bwMode="auto">
          <a:xfrm>
            <a:off x="5472304" y="987574"/>
            <a:ext cx="1836000" cy="1145102"/>
          </a:xfrm>
          <a:prstGeom prst="rect">
            <a:avLst/>
          </a:prstGeom>
          <a:noFill/>
        </p:spPr>
      </p:pic>
      <p:pic>
        <p:nvPicPr>
          <p:cNvPr id="12" name="Picture 8" descr="In-Place Algorithm"/>
          <p:cNvPicPr>
            <a:picLocks noChangeAspect="1" noChangeArrowheads="1"/>
          </p:cNvPicPr>
          <p:nvPr/>
        </p:nvPicPr>
        <p:blipFill>
          <a:blip r:embed="rId7" cstate="print"/>
          <a:srcRect/>
          <a:stretch>
            <a:fillRect/>
          </a:stretch>
        </p:blipFill>
        <p:spPr bwMode="auto">
          <a:xfrm>
            <a:off x="7308304" y="987574"/>
            <a:ext cx="1836000" cy="1145102"/>
          </a:xfrm>
          <a:prstGeom prst="rect">
            <a:avLst/>
          </a:prstGeom>
          <a:noFill/>
        </p:spPr>
      </p:pic>
      <p:pic>
        <p:nvPicPr>
          <p:cNvPr id="13" name="Picture 4" descr="In-Place Algorithm"/>
          <p:cNvPicPr>
            <a:picLocks noChangeAspect="1" noChangeArrowheads="1"/>
          </p:cNvPicPr>
          <p:nvPr/>
        </p:nvPicPr>
        <p:blipFill>
          <a:blip r:embed="rId8" cstate="print"/>
          <a:srcRect/>
          <a:stretch>
            <a:fillRect/>
          </a:stretch>
        </p:blipFill>
        <p:spPr bwMode="auto">
          <a:xfrm>
            <a:off x="0" y="987574"/>
            <a:ext cx="1836000" cy="1145102"/>
          </a:xfrm>
          <a:prstGeom prst="rect">
            <a:avLst/>
          </a:prstGeom>
          <a:noFill/>
        </p:spPr>
      </p:pic>
      <p:sp>
        <p:nvSpPr>
          <p:cNvPr id="15" name="Прямоугольник 14"/>
          <p:cNvSpPr/>
          <p:nvPr/>
        </p:nvSpPr>
        <p:spPr>
          <a:xfrm>
            <a:off x="0" y="4155926"/>
            <a:ext cx="9144000" cy="1538883"/>
          </a:xfrm>
          <a:prstGeom prst="rect">
            <a:avLst/>
          </a:prstGeom>
        </p:spPr>
        <p:txBody>
          <a:bodyPr wrap="square">
            <a:spAutoFit/>
          </a:bodyPr>
          <a:lstStyle/>
          <a:p>
            <a:pPr algn="ctr"/>
            <a:r>
              <a:rPr lang="ru-RU" sz="1700" b="1" dirty="0"/>
              <a:t>Для обмена элементами требуется O(1) дополнительного места.</a:t>
            </a:r>
            <a:endParaRPr lang="en-US" sz="1700" b="1" dirty="0"/>
          </a:p>
          <a:p>
            <a:pPr algn="ctr"/>
            <a:endParaRPr lang="en-US" sz="800" b="1" dirty="0"/>
          </a:p>
          <a:p>
            <a:pPr algn="ctr"/>
            <a:r>
              <a:rPr lang="ru-RU" sz="1700" dirty="0"/>
              <a:t>Пузырьковая сортировка (</a:t>
            </a:r>
            <a:r>
              <a:rPr lang="ru-RU" sz="1700" dirty="0" err="1"/>
              <a:t>Bubble</a:t>
            </a:r>
            <a:r>
              <a:rPr lang="ru-RU" sz="1700" dirty="0"/>
              <a:t> </a:t>
            </a:r>
            <a:r>
              <a:rPr lang="ru-RU" sz="1700" dirty="0" err="1"/>
              <a:t>sort</a:t>
            </a:r>
            <a:r>
              <a:rPr lang="ru-RU" sz="1700" dirty="0"/>
              <a:t>), </a:t>
            </a:r>
            <a:r>
              <a:rPr lang="ru-RU" sz="1700" dirty="0" err="1"/>
              <a:t>сортировка</a:t>
            </a:r>
            <a:r>
              <a:rPr lang="ru-RU" sz="1700" dirty="0"/>
              <a:t> выбором (</a:t>
            </a:r>
            <a:r>
              <a:rPr lang="ru-RU" sz="1700" dirty="0" err="1"/>
              <a:t>Selection</a:t>
            </a:r>
            <a:r>
              <a:rPr lang="ru-RU" sz="1700" dirty="0"/>
              <a:t> </a:t>
            </a:r>
            <a:r>
              <a:rPr lang="ru-RU" sz="1700" dirty="0" err="1"/>
              <a:t>Sort</a:t>
            </a:r>
            <a:r>
              <a:rPr lang="ru-RU" sz="1700" dirty="0"/>
              <a:t>), сортировка вставками (</a:t>
            </a:r>
            <a:r>
              <a:rPr lang="ru-RU" sz="1700" dirty="0" err="1"/>
              <a:t>Insertion</a:t>
            </a:r>
            <a:r>
              <a:rPr lang="ru-RU" sz="1700" dirty="0"/>
              <a:t> </a:t>
            </a:r>
            <a:r>
              <a:rPr lang="ru-RU" sz="1700" dirty="0" err="1"/>
              <a:t>Sort</a:t>
            </a:r>
            <a:r>
              <a:rPr lang="ru-RU" sz="1700" dirty="0"/>
              <a:t>)</a:t>
            </a:r>
            <a:endParaRPr lang="en-US" sz="1700" b="1" dirty="0"/>
          </a:p>
          <a:p>
            <a:pPr algn="ctr"/>
            <a:endParaRPr lang="en-US" sz="1700" b="1" dirty="0"/>
          </a:p>
          <a:p>
            <a:pPr algn="ctr"/>
            <a:endParaRPr lang="ru-RU" b="1" dirty="0"/>
          </a:p>
        </p:txBody>
      </p:sp>
      <p:sp>
        <p:nvSpPr>
          <p:cNvPr id="16" name="Прямоугольник 15"/>
          <p:cNvSpPr/>
          <p:nvPr/>
        </p:nvSpPr>
        <p:spPr>
          <a:xfrm>
            <a:off x="0" y="2067694"/>
            <a:ext cx="9144000" cy="738664"/>
          </a:xfrm>
          <a:prstGeom prst="rect">
            <a:avLst/>
          </a:prstGeom>
        </p:spPr>
        <p:txBody>
          <a:bodyPr wrap="square">
            <a:spAutoFit/>
          </a:bodyPr>
          <a:lstStyle/>
          <a:p>
            <a:pPr algn="ctr"/>
            <a:r>
              <a:rPr lang="ru-RU" sz="1700" b="1" dirty="0"/>
              <a:t>Для этого алгоритма требуется O(</a:t>
            </a:r>
            <a:r>
              <a:rPr lang="ru-RU" sz="1700" b="1" dirty="0" err="1"/>
              <a:t>n</a:t>
            </a:r>
            <a:r>
              <a:rPr lang="ru-RU" sz="1700" b="1" dirty="0"/>
              <a:t>) дополнительного места.</a:t>
            </a:r>
            <a:endParaRPr lang="en-US" sz="1700" b="1" dirty="0"/>
          </a:p>
          <a:p>
            <a:pPr algn="ctr"/>
            <a:endParaRPr lang="en-US" sz="800" b="1" dirty="0"/>
          </a:p>
          <a:p>
            <a:pPr algn="ctr"/>
            <a:r>
              <a:rPr lang="ru-RU" sz="1700" dirty="0"/>
              <a:t>Сортировка по цепочкам (</a:t>
            </a:r>
            <a:r>
              <a:rPr lang="ru-RU" sz="1700" dirty="0" err="1"/>
              <a:t>Strand</a:t>
            </a:r>
            <a:r>
              <a:rPr lang="ru-RU" sz="1700" dirty="0"/>
              <a:t> </a:t>
            </a:r>
            <a:r>
              <a:rPr lang="ru-RU" sz="1700" dirty="0" err="1"/>
              <a:t>Sort</a:t>
            </a:r>
            <a:r>
              <a:rPr lang="ru-RU" sz="1700" dirty="0"/>
              <a:t>).</a:t>
            </a:r>
            <a:endParaRPr lang="ru-RU" sz="1700" b="1" dirty="0"/>
          </a:p>
        </p:txBody>
      </p:sp>
      <p:sp>
        <p:nvSpPr>
          <p:cNvPr id="17" name="Прямоугольник 16"/>
          <p:cNvSpPr/>
          <p:nvPr/>
        </p:nvSpPr>
        <p:spPr>
          <a:xfrm>
            <a:off x="0" y="3035736"/>
            <a:ext cx="9144000" cy="400110"/>
          </a:xfrm>
          <a:prstGeom prst="rect">
            <a:avLst/>
          </a:prstGeom>
        </p:spPr>
        <p:txBody>
          <a:bodyPr wrap="square">
            <a:spAutoFit/>
          </a:bodyPr>
          <a:lstStyle/>
          <a:p>
            <a:pPr algn="ctr"/>
            <a:r>
              <a:rPr lang="ru-RU" sz="2000" b="1" i="1" dirty="0"/>
              <a:t>«</a:t>
            </a:r>
            <a:r>
              <a:rPr lang="en-US" sz="2000" b="1" i="1" dirty="0" err="1"/>
              <a:t>I</a:t>
            </a:r>
            <a:r>
              <a:rPr lang="ru-RU" sz="2000" b="1" i="1" dirty="0" err="1"/>
              <a:t>n-place</a:t>
            </a:r>
            <a:r>
              <a:rPr lang="ru-RU" sz="2000" b="1" i="1" dirty="0"/>
              <a:t>» - алгоритм.</a:t>
            </a:r>
          </a:p>
        </p:txBody>
      </p:sp>
      <p:sp>
        <p:nvSpPr>
          <p:cNvPr id="18" name="Прямоугольник 17"/>
          <p:cNvSpPr/>
          <p:nvPr/>
        </p:nvSpPr>
        <p:spPr>
          <a:xfrm>
            <a:off x="0" y="587464"/>
            <a:ext cx="9144000" cy="400110"/>
          </a:xfrm>
          <a:prstGeom prst="rect">
            <a:avLst/>
          </a:prstGeom>
        </p:spPr>
        <p:txBody>
          <a:bodyPr wrap="square">
            <a:spAutoFit/>
          </a:bodyPr>
          <a:lstStyle/>
          <a:p>
            <a:pPr algn="ctr"/>
            <a:r>
              <a:rPr lang="ru-RU" sz="2000" b="1" i="1" dirty="0"/>
              <a:t>«</a:t>
            </a:r>
            <a:r>
              <a:rPr lang="en-US" sz="2000" b="1" i="1" dirty="0"/>
              <a:t>Not I</a:t>
            </a:r>
            <a:r>
              <a:rPr lang="ru-RU" sz="2000" b="1" i="1" dirty="0" err="1"/>
              <a:t>n-place</a:t>
            </a:r>
            <a:r>
              <a:rPr lang="ru-RU" sz="2000" b="1" i="1" dirty="0"/>
              <a:t>» - алгоритм.</a:t>
            </a:r>
          </a:p>
        </p:txBody>
      </p:sp>
      <p:sp>
        <p:nvSpPr>
          <p:cNvPr id="20" name="Заголовок 1"/>
          <p:cNvSpPr txBox="1">
            <a:spLocks/>
          </p:cNvSpPr>
          <p:nvPr/>
        </p:nvSpPr>
        <p:spPr>
          <a:xfrm>
            <a:off x="0" y="-85700"/>
            <a:ext cx="9144000" cy="857250"/>
          </a:xfrm>
          <a:prstGeom prst="rect">
            <a:avLst/>
          </a:prstGeom>
        </p:spPr>
        <p:txBody>
          <a:bodyPr vert="horz" lIns="91440" tIns="45720" rIns="91440" bIns="45720" rtlCol="0" anchor="ct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3600" b="0" i="0" u="none" strike="noStrike" kern="1200" cap="none" spc="0" normalizeH="0" baseline="0" noProof="0" dirty="0">
                <a:ln>
                  <a:noFill/>
                </a:ln>
                <a:solidFill>
                  <a:schemeClr val="tx1"/>
                </a:solidFill>
                <a:effectLst/>
                <a:uLnTx/>
                <a:uFillTx/>
                <a:latin typeface="+mj-lt"/>
                <a:ea typeface="+mj-ea"/>
                <a:cs typeface="+mj-cs"/>
              </a:rPr>
              <a:t>Классификация алгоритмов сортировки массива</a:t>
            </a:r>
          </a:p>
        </p:txBody>
      </p:sp>
      <p:pic>
        <p:nvPicPr>
          <p:cNvPr id="8" name="Picture 5" descr="In-Place Algorithm"/>
          <p:cNvPicPr>
            <a:picLocks noChangeAspect="1" noChangeArrowheads="1"/>
          </p:cNvPicPr>
          <p:nvPr/>
        </p:nvPicPr>
        <p:blipFill>
          <a:blip r:embed="rId9" cstate="print"/>
          <a:srcRect/>
          <a:stretch>
            <a:fillRect/>
          </a:stretch>
        </p:blipFill>
        <p:spPr bwMode="auto">
          <a:xfrm>
            <a:off x="1799896" y="987574"/>
            <a:ext cx="1836000" cy="1145102"/>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8520" y="915566"/>
            <a:ext cx="8855968" cy="4370427"/>
          </a:xfrm>
          <a:prstGeom prst="rect">
            <a:avLst/>
          </a:prstGeom>
        </p:spPr>
        <p:txBody>
          <a:bodyPr wrap="square">
            <a:spAutoFit/>
          </a:bodyPr>
          <a:lstStyle/>
          <a:p>
            <a:pPr lvl="0"/>
            <a:r>
              <a:rPr lang="ru-RU" b="1" dirty="0"/>
              <a:t>Внутренняя сортировка </a:t>
            </a:r>
            <a:r>
              <a:rPr lang="ru-RU" dirty="0"/>
              <a:t>— это когда все данные (оперирует массивами) помещаются в оперативную или внутреннюю память. При внутренней сортировке задача не может принимать входные данные, превышающие размер выделенной памяти.</a:t>
            </a:r>
          </a:p>
          <a:p>
            <a:pPr lvl="0"/>
            <a:endParaRPr lang="ru-RU" sz="800" dirty="0"/>
          </a:p>
          <a:p>
            <a:r>
              <a:rPr lang="ru-RU" b="1" dirty="0"/>
              <a:t>Внешняя сортировка </a:t>
            </a:r>
            <a:r>
              <a:rPr lang="ru-RU" dirty="0"/>
              <a:t>— это термин, обозначающий класс алгоритмов сортировки, способных обрабатывать большие объёмы данных (оперирует запоминающими устройствами большого объёма). Внешняя сортировка необходима, когда сортируемые данные не помещаются в основную память вычислительного устройства (обычно ОЗУ) и должны находиться в более медленной внешней памяти (обычно на жёстком диске). Сортировка не с произвольным доступом, а последовательным (упорядочение файлов), то есть в данный момент «виден» только один элемент.</a:t>
            </a:r>
          </a:p>
          <a:p>
            <a:endParaRPr lang="ru-RU" sz="800" dirty="0"/>
          </a:p>
          <a:p>
            <a:r>
              <a:rPr lang="ru-RU" b="1" dirty="0"/>
              <a:t>Примеры внешней сортировки:</a:t>
            </a:r>
          </a:p>
          <a:p>
            <a:pPr marL="342900" indent="-342900">
              <a:buFont typeface="+mj-lt"/>
              <a:buAutoNum type="arabicPeriod"/>
            </a:pPr>
            <a:r>
              <a:rPr lang="ru-RU" dirty="0"/>
              <a:t>Сортировка слиянием (</a:t>
            </a:r>
            <a:r>
              <a:rPr lang="en-US" dirty="0"/>
              <a:t>Merge sort</a:t>
            </a:r>
            <a:r>
              <a:rPr lang="ru-RU" dirty="0"/>
              <a:t>)</a:t>
            </a:r>
          </a:p>
          <a:p>
            <a:pPr marL="342900" indent="-342900">
              <a:buFont typeface="+mj-lt"/>
              <a:buAutoNum type="arabicPeriod"/>
            </a:pPr>
            <a:r>
              <a:rPr lang="ru-RU" dirty="0"/>
              <a:t>Ленточная сортировка (</a:t>
            </a:r>
            <a:r>
              <a:rPr lang="en-US" dirty="0"/>
              <a:t>Tape sort</a:t>
            </a:r>
            <a:r>
              <a:rPr lang="ru-RU" dirty="0"/>
              <a:t>)</a:t>
            </a:r>
          </a:p>
          <a:p>
            <a:pPr marL="342900" indent="-342900">
              <a:buFont typeface="+mj-lt"/>
              <a:buAutoNum type="arabicPeriod"/>
            </a:pPr>
            <a:r>
              <a:rPr lang="ru-RU" dirty="0"/>
              <a:t>Полифазная сортировка (</a:t>
            </a:r>
            <a:r>
              <a:rPr lang="en-US" dirty="0"/>
              <a:t>Polyphase sort</a:t>
            </a:r>
            <a:r>
              <a:rPr lang="ru-RU" dirty="0"/>
              <a:t>)</a:t>
            </a:r>
          </a:p>
        </p:txBody>
      </p:sp>
      <p:sp>
        <p:nvSpPr>
          <p:cNvPr id="6" name="Прямоугольник 5"/>
          <p:cNvSpPr/>
          <p:nvPr/>
        </p:nvSpPr>
        <p:spPr>
          <a:xfrm>
            <a:off x="107504" y="555526"/>
            <a:ext cx="8784976" cy="369332"/>
          </a:xfrm>
          <a:prstGeom prst="rect">
            <a:avLst/>
          </a:prstGeom>
        </p:spPr>
        <p:txBody>
          <a:bodyPr wrap="square">
            <a:spAutoFit/>
          </a:bodyPr>
          <a:lstStyle/>
          <a:p>
            <a:pPr marL="342900" lvl="0" indent="-342900"/>
            <a:r>
              <a:rPr lang="ru-RU" b="1" u="sng" dirty="0"/>
              <a:t>2. По сфере применения</a:t>
            </a:r>
            <a:r>
              <a:rPr lang="en-US" b="1" u="sng" dirty="0"/>
              <a:t>:</a:t>
            </a:r>
            <a:r>
              <a:rPr lang="en-US" b="1" dirty="0"/>
              <a:t> </a:t>
            </a:r>
            <a:r>
              <a:rPr lang="ru-RU" b="1" dirty="0"/>
              <a:t>Внутренняя и внешняя сортировки.</a:t>
            </a:r>
          </a:p>
        </p:txBody>
      </p:sp>
      <p:sp>
        <p:nvSpPr>
          <p:cNvPr id="9" name="Заголовок 1"/>
          <p:cNvSpPr txBox="1">
            <a:spLocks/>
          </p:cNvSpPr>
          <p:nvPr/>
        </p:nvSpPr>
        <p:spPr>
          <a:xfrm>
            <a:off x="0" y="-85700"/>
            <a:ext cx="9144000" cy="857250"/>
          </a:xfrm>
          <a:prstGeom prst="rect">
            <a:avLst/>
          </a:prstGeom>
        </p:spPr>
        <p:txBody>
          <a:bodyPr vert="horz" lIns="91440" tIns="45720" rIns="91440" bIns="45720" rtlCol="0" anchor="ct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3600" b="0" i="0" u="none" strike="noStrike" kern="1200" cap="none" spc="0" normalizeH="0" baseline="0" noProof="0" dirty="0">
                <a:ln>
                  <a:noFill/>
                </a:ln>
                <a:solidFill>
                  <a:schemeClr val="tx1"/>
                </a:solidFill>
                <a:effectLst/>
                <a:uLnTx/>
                <a:uFillTx/>
                <a:latin typeface="+mj-lt"/>
                <a:ea typeface="+mj-ea"/>
                <a:cs typeface="+mj-cs"/>
              </a:rPr>
              <a:t>Классификация алгоритмов сортировки массива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843558"/>
            <a:ext cx="6516216" cy="3139321"/>
          </a:xfrm>
          <a:prstGeom prst="rect">
            <a:avLst/>
          </a:prstGeom>
        </p:spPr>
        <p:txBody>
          <a:bodyPr wrap="square">
            <a:spAutoFit/>
          </a:bodyPr>
          <a:lstStyle/>
          <a:p>
            <a:r>
              <a:rPr lang="ru-RU" sz="1600" b="1" dirty="0"/>
              <a:t>Устойчивая (стабильная) сортировка </a:t>
            </a:r>
            <a:r>
              <a:rPr lang="ru-RU" sz="1600" dirty="0"/>
              <a:t>— </a:t>
            </a:r>
            <a:r>
              <a:rPr lang="ru-RU" sz="1600" dirty="0" err="1"/>
              <a:t>сортировка</a:t>
            </a:r>
            <a:r>
              <a:rPr lang="ru-RU" sz="1600" dirty="0"/>
              <a:t>, которая не меняет относительный порядок сортируемых элементов, имеющих одинаковые ключи, по которым происходит сортировка. Устойчивость важна, когда есть пары «ключ-значение» с возможными дублирующимися ключами (например, имена людей в качестве ключей и их данные в качестве значений). И необходимо отсортировать эти объекты по ключам. </a:t>
            </a:r>
          </a:p>
          <a:p>
            <a:endParaRPr lang="ru-RU" sz="300" dirty="0"/>
          </a:p>
          <a:p>
            <a:r>
              <a:rPr lang="ru-RU" sz="1600" b="1" dirty="0"/>
              <a:t>Устойчивые</a:t>
            </a:r>
            <a:r>
              <a:rPr lang="en-US" sz="1600" b="1" dirty="0"/>
              <a:t> </a:t>
            </a:r>
            <a:r>
              <a:rPr lang="ru-RU" sz="1600" b="1" dirty="0"/>
              <a:t>алгоритмы</a:t>
            </a:r>
            <a:r>
              <a:rPr lang="en-US" sz="1600" b="1" dirty="0"/>
              <a:t>:</a:t>
            </a:r>
            <a:r>
              <a:rPr lang="en-US" sz="1600" dirty="0"/>
              <a:t> </a:t>
            </a:r>
            <a:r>
              <a:rPr lang="ru-RU" sz="1600" dirty="0"/>
              <a:t>Пузырьковая сортировка (</a:t>
            </a:r>
            <a:r>
              <a:rPr lang="en-US" sz="1600" dirty="0"/>
              <a:t>Bubble Sort</a:t>
            </a:r>
            <a:r>
              <a:rPr lang="ru-RU" sz="1600" dirty="0"/>
              <a:t>), сортировка вставками (</a:t>
            </a:r>
            <a:r>
              <a:rPr lang="en-US" sz="1600" dirty="0"/>
              <a:t>Insertion Sort</a:t>
            </a:r>
            <a:r>
              <a:rPr lang="ru-RU" sz="1600" dirty="0"/>
              <a:t>), сортировка подсчётом (</a:t>
            </a:r>
            <a:r>
              <a:rPr lang="en-US" sz="1600" dirty="0"/>
              <a:t>Count Sort</a:t>
            </a:r>
            <a:r>
              <a:rPr lang="ru-RU" sz="1600" dirty="0"/>
              <a:t>). </a:t>
            </a:r>
          </a:p>
          <a:p>
            <a:endParaRPr lang="ru-RU" sz="300" dirty="0"/>
          </a:p>
          <a:p>
            <a:r>
              <a:rPr lang="ru-RU" sz="1600" b="1" dirty="0"/>
              <a:t>Неустойчивые алгоритмы</a:t>
            </a:r>
            <a:r>
              <a:rPr lang="en-US" sz="1600" b="1" dirty="0"/>
              <a:t>: </a:t>
            </a:r>
            <a:r>
              <a:rPr lang="ru-RU" sz="1600" dirty="0"/>
              <a:t>Сортировка выбором</a:t>
            </a:r>
            <a:r>
              <a:rPr lang="en-US" sz="1600" dirty="0"/>
              <a:t> (Selection Sort)</a:t>
            </a:r>
            <a:r>
              <a:rPr lang="ru-RU" sz="1600" dirty="0"/>
              <a:t>, быстрая сортировка</a:t>
            </a:r>
            <a:r>
              <a:rPr lang="en-US" sz="1600" dirty="0"/>
              <a:t> (Quick Sort)</a:t>
            </a:r>
            <a:r>
              <a:rPr lang="ru-RU" sz="1600" dirty="0"/>
              <a:t>, пирамидальная сортировка</a:t>
            </a:r>
            <a:r>
              <a:rPr lang="en-US" sz="1600" dirty="0"/>
              <a:t> (Heap Sort)</a:t>
            </a:r>
            <a:r>
              <a:rPr lang="ru-RU" sz="1600" dirty="0"/>
              <a:t>.</a:t>
            </a:r>
          </a:p>
          <a:p>
            <a:endParaRPr lang="ru-RU" sz="1600" dirty="0"/>
          </a:p>
        </p:txBody>
      </p:sp>
      <p:sp>
        <p:nvSpPr>
          <p:cNvPr id="5" name="Прямоугольник 4"/>
          <p:cNvSpPr/>
          <p:nvPr/>
        </p:nvSpPr>
        <p:spPr>
          <a:xfrm>
            <a:off x="107504" y="555526"/>
            <a:ext cx="8784976" cy="369332"/>
          </a:xfrm>
          <a:prstGeom prst="rect">
            <a:avLst/>
          </a:prstGeom>
        </p:spPr>
        <p:txBody>
          <a:bodyPr wrap="square">
            <a:spAutoFit/>
          </a:bodyPr>
          <a:lstStyle/>
          <a:p>
            <a:pPr marL="342900" lvl="0" indent="-342900"/>
            <a:r>
              <a:rPr lang="ru-RU" b="1" u="sng" dirty="0"/>
              <a:t>3. По устойчивости</a:t>
            </a:r>
            <a:r>
              <a:rPr lang="en-US" b="1" u="sng" dirty="0"/>
              <a:t>:</a:t>
            </a:r>
            <a:r>
              <a:rPr lang="en-US" b="1" dirty="0"/>
              <a:t> </a:t>
            </a:r>
            <a:r>
              <a:rPr lang="ru-RU" b="1" dirty="0"/>
              <a:t>Устойчивые и неустойчивые алгоритмы</a:t>
            </a:r>
            <a:r>
              <a:rPr lang="en-US" b="1" dirty="0"/>
              <a:t>.</a:t>
            </a:r>
            <a:endParaRPr lang="ru-RU" b="1" u="sng" dirty="0"/>
          </a:p>
        </p:txBody>
      </p:sp>
      <p:pic>
        <p:nvPicPr>
          <p:cNvPr id="9" name="Picture 4" descr="неопределенный"/>
          <p:cNvPicPr>
            <a:picLocks noChangeAspect="1" noChangeArrowheads="1"/>
          </p:cNvPicPr>
          <p:nvPr/>
        </p:nvPicPr>
        <p:blipFill>
          <a:blip r:embed="rId2" cstate="print"/>
          <a:srcRect/>
          <a:stretch>
            <a:fillRect/>
          </a:stretch>
        </p:blipFill>
        <p:spPr bwMode="auto">
          <a:xfrm>
            <a:off x="6444208" y="630624"/>
            <a:ext cx="2699792" cy="4461406"/>
          </a:xfrm>
          <a:prstGeom prst="rect">
            <a:avLst/>
          </a:prstGeom>
          <a:noFill/>
        </p:spPr>
      </p:pic>
      <p:pic>
        <p:nvPicPr>
          <p:cNvPr id="21506" name="Picture 2" descr="Picture background"/>
          <p:cNvPicPr>
            <a:picLocks noChangeAspect="1" noChangeArrowheads="1"/>
          </p:cNvPicPr>
          <p:nvPr/>
        </p:nvPicPr>
        <p:blipFill>
          <a:blip r:embed="rId3" cstate="print"/>
          <a:srcRect/>
          <a:stretch>
            <a:fillRect/>
          </a:stretch>
        </p:blipFill>
        <p:spPr bwMode="auto">
          <a:xfrm>
            <a:off x="0" y="3649664"/>
            <a:ext cx="5868144" cy="1658390"/>
          </a:xfrm>
          <a:prstGeom prst="rect">
            <a:avLst/>
          </a:prstGeom>
          <a:noFill/>
        </p:spPr>
      </p:pic>
      <p:sp>
        <p:nvSpPr>
          <p:cNvPr id="11" name="Заголовок 1"/>
          <p:cNvSpPr txBox="1">
            <a:spLocks/>
          </p:cNvSpPr>
          <p:nvPr/>
        </p:nvSpPr>
        <p:spPr>
          <a:xfrm>
            <a:off x="0" y="-85700"/>
            <a:ext cx="9144000" cy="857250"/>
          </a:xfrm>
          <a:prstGeom prst="rect">
            <a:avLst/>
          </a:prstGeom>
        </p:spPr>
        <p:txBody>
          <a:bodyPr vert="horz" lIns="91440" tIns="45720" rIns="91440" bIns="45720" rtlCol="0" anchor="ct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3600" b="0" i="0" u="none" strike="noStrike" kern="1200" cap="none" spc="0" normalizeH="0" baseline="0" noProof="0" dirty="0">
                <a:ln>
                  <a:noFill/>
                </a:ln>
                <a:solidFill>
                  <a:schemeClr val="tx1"/>
                </a:solidFill>
                <a:effectLst/>
                <a:uLnTx/>
                <a:uFillTx/>
                <a:latin typeface="+mj-lt"/>
                <a:ea typeface="+mj-ea"/>
                <a:cs typeface="+mj-cs"/>
              </a:rPr>
              <a:t>Классификация алгоритмов сортировки массива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рямоугольник 8"/>
          <p:cNvSpPr/>
          <p:nvPr/>
        </p:nvSpPr>
        <p:spPr>
          <a:xfrm>
            <a:off x="251520" y="1131590"/>
            <a:ext cx="4680520" cy="3293209"/>
          </a:xfrm>
          <a:prstGeom prst="rect">
            <a:avLst/>
          </a:prstGeom>
        </p:spPr>
        <p:txBody>
          <a:bodyPr wrap="square">
            <a:spAutoFit/>
          </a:bodyPr>
          <a:lstStyle/>
          <a:p>
            <a:r>
              <a:rPr lang="ru-RU" dirty="0"/>
              <a:t>В структурах данных используются различные алгоритмы сортировки. Алгоритмы сортировки можно разделить на два основных типа:</a:t>
            </a:r>
          </a:p>
          <a:p>
            <a:endParaRPr lang="ru-RU" dirty="0"/>
          </a:p>
          <a:p>
            <a:pPr marL="342900" indent="-342900">
              <a:buFont typeface="+mj-lt"/>
              <a:buAutoNum type="arabicPeriod"/>
            </a:pPr>
            <a:r>
              <a:rPr lang="ru-RU" b="1" dirty="0"/>
              <a:t>Основанные на сравнении:</a:t>
            </a:r>
            <a:r>
              <a:rPr lang="ru-RU" dirty="0"/>
              <a:t> в алгоритме сортировки, основанном на сравнении, элементы сравниваются.</a:t>
            </a:r>
          </a:p>
          <a:p>
            <a:pPr marL="342900" indent="-342900">
              <a:buFont typeface="+mj-lt"/>
              <a:buAutoNum type="arabicPeriod"/>
            </a:pPr>
            <a:endParaRPr lang="ru-RU" sz="1000" dirty="0"/>
          </a:p>
          <a:p>
            <a:pPr marL="342900" indent="-342900">
              <a:buFont typeface="+mj-lt"/>
              <a:buAutoNum type="arabicPeriod"/>
            </a:pPr>
            <a:r>
              <a:rPr lang="ru-RU" b="1" dirty="0"/>
              <a:t>Не основанные на сравнении:</a:t>
            </a:r>
            <a:r>
              <a:rPr lang="ru-RU" dirty="0"/>
              <a:t> в алгоритме сортировки, не основанном на сравнении, элементы не сравниваются. </a:t>
            </a:r>
          </a:p>
        </p:txBody>
      </p:sp>
      <p:pic>
        <p:nvPicPr>
          <p:cNvPr id="51203" name="Picture 3"/>
          <p:cNvPicPr>
            <a:picLocks noChangeAspect="1" noChangeArrowheads="1"/>
          </p:cNvPicPr>
          <p:nvPr/>
        </p:nvPicPr>
        <p:blipFill>
          <a:blip r:embed="rId2" cstate="print"/>
          <a:srcRect t="1331"/>
          <a:stretch>
            <a:fillRect/>
          </a:stretch>
        </p:blipFill>
        <p:spPr bwMode="auto">
          <a:xfrm>
            <a:off x="5436096" y="649082"/>
            <a:ext cx="3707904" cy="4494418"/>
          </a:xfrm>
          <a:prstGeom prst="rect">
            <a:avLst/>
          </a:prstGeom>
          <a:noFill/>
          <a:ln w="9525">
            <a:noFill/>
            <a:miter lim="800000"/>
            <a:headEnd/>
            <a:tailEnd/>
          </a:ln>
        </p:spPr>
      </p:pic>
      <p:sp>
        <p:nvSpPr>
          <p:cNvPr id="8" name="Заголовок 1"/>
          <p:cNvSpPr txBox="1">
            <a:spLocks/>
          </p:cNvSpPr>
          <p:nvPr/>
        </p:nvSpPr>
        <p:spPr>
          <a:xfrm>
            <a:off x="0" y="-85700"/>
            <a:ext cx="9144000" cy="857250"/>
          </a:xfrm>
          <a:prstGeom prst="rect">
            <a:avLst/>
          </a:prstGeom>
        </p:spPr>
        <p:txBody>
          <a:bodyPr vert="horz" lIns="91440" tIns="45720" rIns="91440" bIns="45720" rtlCol="0" anchor="ctr">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ru-RU" sz="3600" b="0" i="0" u="none" strike="noStrike" kern="1200" cap="none" spc="0" normalizeH="0" baseline="0" noProof="0" dirty="0">
                <a:ln>
                  <a:noFill/>
                </a:ln>
                <a:solidFill>
                  <a:schemeClr val="tx1"/>
                </a:solidFill>
                <a:effectLst/>
                <a:uLnTx/>
                <a:uFillTx/>
                <a:latin typeface="+mj-lt"/>
                <a:ea typeface="+mj-ea"/>
                <a:cs typeface="+mj-cs"/>
              </a:rPr>
              <a:t>Классификация алгоритмов сортировки массива</a:t>
            </a:r>
          </a:p>
        </p:txBody>
      </p:sp>
      <p:sp>
        <p:nvSpPr>
          <p:cNvPr id="10" name="Прямоугольник 9"/>
          <p:cNvSpPr/>
          <p:nvPr/>
        </p:nvSpPr>
        <p:spPr>
          <a:xfrm>
            <a:off x="107504" y="555526"/>
            <a:ext cx="8784976" cy="369332"/>
          </a:xfrm>
          <a:prstGeom prst="rect">
            <a:avLst/>
          </a:prstGeom>
        </p:spPr>
        <p:txBody>
          <a:bodyPr wrap="square">
            <a:spAutoFit/>
          </a:bodyPr>
          <a:lstStyle/>
          <a:p>
            <a:pPr marL="342900" lvl="0" indent="-342900"/>
            <a:r>
              <a:rPr lang="ru-RU" b="1" u="sng" dirty="0"/>
              <a:t>4. По использованию операции сравнения.</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0" y="-164554"/>
            <a:ext cx="9144000" cy="857250"/>
          </a:xfrm>
        </p:spPr>
        <p:txBody>
          <a:bodyPr>
            <a:normAutofit/>
          </a:bodyPr>
          <a:lstStyle/>
          <a:p>
            <a:r>
              <a:rPr lang="ru-RU" sz="3600" dirty="0"/>
              <a:t>Пузырьковая сортировка (</a:t>
            </a:r>
            <a:r>
              <a:rPr lang="en-US" sz="3600" dirty="0"/>
              <a:t>Bubble Sort)</a:t>
            </a:r>
            <a:endParaRPr lang="ru-RU" sz="3600" dirty="0"/>
          </a:p>
        </p:txBody>
      </p:sp>
      <p:sp>
        <p:nvSpPr>
          <p:cNvPr id="4" name="Прямоугольник 3"/>
          <p:cNvSpPr/>
          <p:nvPr/>
        </p:nvSpPr>
        <p:spPr>
          <a:xfrm>
            <a:off x="35496" y="483518"/>
            <a:ext cx="5652120" cy="5016758"/>
          </a:xfrm>
          <a:prstGeom prst="rect">
            <a:avLst/>
          </a:prstGeom>
        </p:spPr>
        <p:txBody>
          <a:bodyPr wrap="square">
            <a:spAutoFit/>
          </a:bodyPr>
          <a:lstStyle/>
          <a:p>
            <a:r>
              <a:rPr lang="ru-RU" sz="1600" dirty="0"/>
              <a:t>Это простой алгоритм сортировки, который многократно меняет местами соседние элементы, если они расположены в неправильном порядке. Он выполняет несколько проходов по массиву, и в каждом проходе наибольший </a:t>
            </a:r>
            <a:r>
              <a:rPr lang="ru-RU" sz="1600" dirty="0" err="1"/>
              <a:t>неотсортированный</a:t>
            </a:r>
            <a:r>
              <a:rPr lang="ru-RU" sz="1600" dirty="0"/>
              <a:t> элемент перемещается на свою правильную позицию в конце.</a:t>
            </a:r>
          </a:p>
          <a:p>
            <a:pPr>
              <a:buFont typeface="Calibri" pitchFamily="34" charset="0"/>
              <a:buChar char="‐"/>
            </a:pPr>
            <a:r>
              <a:rPr lang="ru-RU" sz="1600" dirty="0"/>
              <a:t>После первого прохода максимальный элемент перемещается в конец (на свою правильную позицию). Аналогично, после второго прохода второй по величине элемент перемещается на предпоследнюю позицию.</a:t>
            </a:r>
          </a:p>
          <a:p>
            <a:pPr>
              <a:buFont typeface="Calibri" pitchFamily="34" charset="0"/>
              <a:buChar char="‐"/>
            </a:pPr>
            <a:r>
              <a:rPr lang="ru-RU" sz="1600" dirty="0"/>
              <a:t>В каждом проходе мы обрабатываем только те элементы, которые ещё не были перемещены в правильную позицию. После </a:t>
            </a:r>
            <a:r>
              <a:rPr lang="ru-RU" sz="1600" dirty="0" err="1"/>
              <a:t>k</a:t>
            </a:r>
            <a:r>
              <a:rPr lang="ru-RU" sz="1600" dirty="0"/>
              <a:t> проходов наибольшие </a:t>
            </a:r>
            <a:r>
              <a:rPr lang="ru-RU" sz="1600" dirty="0" err="1"/>
              <a:t>k</a:t>
            </a:r>
            <a:r>
              <a:rPr lang="ru-RU" sz="1600" dirty="0"/>
              <a:t> элементов должны быть перемещены на последние </a:t>
            </a:r>
            <a:r>
              <a:rPr lang="ru-RU" sz="1600" dirty="0" err="1"/>
              <a:t>k</a:t>
            </a:r>
            <a:r>
              <a:rPr lang="ru-RU" sz="1600" dirty="0"/>
              <a:t> позиций.</a:t>
            </a:r>
          </a:p>
          <a:p>
            <a:pPr>
              <a:buFont typeface="Calibri" pitchFamily="34" charset="0"/>
              <a:buChar char="‐"/>
            </a:pPr>
            <a:r>
              <a:rPr lang="ru-RU" sz="1600" dirty="0"/>
              <a:t>В проходе мы рассматриваем оставшиеся элементы, сравниваем все смежные элементы и меняем местами, если больший элемент находится перед меньшим. Продолжая так, мы получаем наибольший элемент (из оставшихся) на своей правильной позиции.</a:t>
            </a:r>
            <a:endParaRPr lang="en-US" sz="1600" dirty="0"/>
          </a:p>
          <a:p>
            <a:endParaRPr lang="ru-RU" sz="1600" dirty="0"/>
          </a:p>
        </p:txBody>
      </p:sp>
      <p:pic>
        <p:nvPicPr>
          <p:cNvPr id="53251" name="Picture 3"/>
          <p:cNvPicPr>
            <a:picLocks noChangeAspect="1" noChangeArrowheads="1"/>
          </p:cNvPicPr>
          <p:nvPr/>
        </p:nvPicPr>
        <p:blipFill>
          <a:blip r:embed="rId2" cstate="print"/>
          <a:srcRect/>
          <a:stretch>
            <a:fillRect/>
          </a:stretch>
        </p:blipFill>
        <p:spPr bwMode="auto">
          <a:xfrm>
            <a:off x="5733747" y="627534"/>
            <a:ext cx="3410253" cy="1440000"/>
          </a:xfrm>
          <a:prstGeom prst="rect">
            <a:avLst/>
          </a:prstGeom>
          <a:noFill/>
          <a:ln w="9525">
            <a:noFill/>
            <a:miter lim="800000"/>
            <a:headEnd/>
            <a:tailEnd/>
          </a:ln>
        </p:spPr>
      </p:pic>
      <p:pic>
        <p:nvPicPr>
          <p:cNvPr id="53252" name="Picture 4"/>
          <p:cNvPicPr>
            <a:picLocks noChangeAspect="1" noChangeArrowheads="1"/>
          </p:cNvPicPr>
          <p:nvPr/>
        </p:nvPicPr>
        <p:blipFill>
          <a:blip r:embed="rId3" cstate="print"/>
          <a:srcRect/>
          <a:stretch>
            <a:fillRect/>
          </a:stretch>
        </p:blipFill>
        <p:spPr bwMode="auto">
          <a:xfrm>
            <a:off x="5733747" y="2139702"/>
            <a:ext cx="3410253" cy="1440000"/>
          </a:xfrm>
          <a:prstGeom prst="rect">
            <a:avLst/>
          </a:prstGeom>
          <a:noFill/>
          <a:ln w="9525">
            <a:noFill/>
            <a:miter lim="800000"/>
            <a:headEnd/>
            <a:tailEnd/>
          </a:ln>
        </p:spPr>
      </p:pic>
      <p:pic>
        <p:nvPicPr>
          <p:cNvPr id="53253" name="Picture 5"/>
          <p:cNvPicPr>
            <a:picLocks noChangeAspect="1" noChangeArrowheads="1"/>
          </p:cNvPicPr>
          <p:nvPr/>
        </p:nvPicPr>
        <p:blipFill>
          <a:blip r:embed="rId4" cstate="print"/>
          <a:srcRect/>
          <a:stretch>
            <a:fillRect/>
          </a:stretch>
        </p:blipFill>
        <p:spPr bwMode="auto">
          <a:xfrm>
            <a:off x="5733747" y="3651870"/>
            <a:ext cx="3410253" cy="14400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3" name="Picture 3"/>
          <p:cNvPicPr>
            <a:picLocks noChangeAspect="1" noChangeArrowheads="1"/>
          </p:cNvPicPr>
          <p:nvPr/>
        </p:nvPicPr>
        <p:blipFill>
          <a:blip r:embed="rId2" cstate="print"/>
          <a:srcRect/>
          <a:stretch>
            <a:fillRect/>
          </a:stretch>
        </p:blipFill>
        <p:spPr bwMode="auto">
          <a:xfrm>
            <a:off x="4427983" y="-14304"/>
            <a:ext cx="4716017" cy="5157804"/>
          </a:xfrm>
          <a:prstGeom prst="rect">
            <a:avLst/>
          </a:prstGeom>
          <a:noFill/>
          <a:ln w="9525">
            <a:noFill/>
            <a:miter lim="800000"/>
            <a:headEnd/>
            <a:tailEnd/>
          </a:ln>
          <a:effectLst/>
        </p:spPr>
      </p:pic>
      <p:sp>
        <p:nvSpPr>
          <p:cNvPr id="4" name="Прямоугольник 3"/>
          <p:cNvSpPr/>
          <p:nvPr/>
        </p:nvSpPr>
        <p:spPr>
          <a:xfrm>
            <a:off x="0" y="4497169"/>
            <a:ext cx="4572000" cy="646331"/>
          </a:xfrm>
          <a:prstGeom prst="rect">
            <a:avLst/>
          </a:prstGeom>
        </p:spPr>
        <p:txBody>
          <a:bodyPr wrap="square">
            <a:spAutoFit/>
          </a:bodyPr>
          <a:lstStyle/>
          <a:p>
            <a:r>
              <a:rPr lang="ru-RU" b="1" dirty="0"/>
              <a:t>Временная сложность: O(</a:t>
            </a:r>
            <a:r>
              <a:rPr lang="ru-RU" b="1" dirty="0" err="1"/>
              <a:t>n</a:t>
            </a:r>
            <a:r>
              <a:rPr lang="ru-RU" b="1" dirty="0"/>
              <a:t>²)</a:t>
            </a:r>
          </a:p>
          <a:p>
            <a:r>
              <a:rPr lang="ru-RU" b="1" dirty="0"/>
              <a:t>Пространственная сложность: O(1)</a:t>
            </a:r>
          </a:p>
        </p:txBody>
      </p:sp>
      <p:sp>
        <p:nvSpPr>
          <p:cNvPr id="6" name="Прямоугольник 5"/>
          <p:cNvSpPr/>
          <p:nvPr/>
        </p:nvSpPr>
        <p:spPr>
          <a:xfrm>
            <a:off x="35496" y="44931"/>
            <a:ext cx="4427984" cy="4255011"/>
          </a:xfrm>
          <a:prstGeom prst="rect">
            <a:avLst/>
          </a:prstGeom>
        </p:spPr>
        <p:txBody>
          <a:bodyPr wrap="square">
            <a:spAutoFit/>
          </a:bodyPr>
          <a:lstStyle/>
          <a:p>
            <a:r>
              <a:rPr lang="ru-RU" sz="1700" b="1" dirty="0"/>
              <a:t>Преимущества:</a:t>
            </a:r>
          </a:p>
          <a:p>
            <a:pPr marL="87313" indent="-87313">
              <a:buFont typeface="Calibri" pitchFamily="34" charset="0"/>
              <a:buChar char="‐"/>
            </a:pPr>
            <a:r>
              <a:rPr lang="ru-RU" sz="1700" dirty="0"/>
              <a:t>Пузырьковая сортировка проста в понимании и реализации.</a:t>
            </a:r>
          </a:p>
          <a:p>
            <a:pPr marL="87313" indent="-87313">
              <a:buFont typeface="Calibri" pitchFamily="34" charset="0"/>
              <a:buChar char="‐"/>
            </a:pPr>
            <a:r>
              <a:rPr lang="ru-RU" sz="1700" dirty="0"/>
              <a:t>«</a:t>
            </a:r>
            <a:r>
              <a:rPr lang="ru-RU" sz="1700" dirty="0" err="1"/>
              <a:t>in-place</a:t>
            </a:r>
            <a:r>
              <a:rPr lang="ru-RU" sz="1700" dirty="0"/>
              <a:t>» алгоритм - не требует дополнительного объема памяти.</a:t>
            </a:r>
          </a:p>
          <a:p>
            <a:pPr marL="87313" indent="-87313">
              <a:buFont typeface="Calibri" pitchFamily="34" charset="0"/>
              <a:buChar char="‐"/>
            </a:pPr>
            <a:r>
              <a:rPr lang="ru-RU" sz="1700" dirty="0"/>
              <a:t>Стабильный алгоритм сортировки, что означает, что элементы с одинаковым значением ключа сохраняют свой относительный порядок в отсортированном выводе.</a:t>
            </a:r>
          </a:p>
          <a:p>
            <a:pPr>
              <a:buFont typeface="Calibri" pitchFamily="34" charset="0"/>
              <a:buChar char="‐"/>
            </a:pPr>
            <a:endParaRPr lang="ru-RU" sz="800" dirty="0"/>
          </a:p>
          <a:p>
            <a:r>
              <a:rPr lang="ru-RU" sz="1700" b="1" dirty="0"/>
              <a:t>Недостатки:</a:t>
            </a:r>
          </a:p>
          <a:p>
            <a:pPr marL="87313" indent="-87313">
              <a:buFont typeface="Calibri" pitchFamily="34" charset="0"/>
              <a:buChar char="‐"/>
            </a:pPr>
            <a:r>
              <a:rPr lang="ru-RU" sz="1700" dirty="0"/>
              <a:t>Временная сложность пузырьковой сортировки составляет O(</a:t>
            </a:r>
            <a:r>
              <a:rPr lang="ru-RU" sz="1700" dirty="0" err="1"/>
              <a:t>n</a:t>
            </a:r>
            <a:r>
              <a:rPr lang="ru-RU" sz="1700" dirty="0"/>
              <a:t>²).</a:t>
            </a:r>
          </a:p>
          <a:p>
            <a:pPr marL="87313" indent="-87313">
              <a:buFont typeface="Calibri" pitchFamily="34" charset="0"/>
              <a:buChar char="‐"/>
            </a:pPr>
            <a:r>
              <a:rPr lang="ru-RU" sz="1700" dirty="0"/>
              <a:t>Пузырьковая сортировка имеет ограниченное применение на практике.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a:spLocks noGrp="1"/>
          </p:cNvSpPr>
          <p:nvPr>
            <p:ph type="title"/>
          </p:nvPr>
        </p:nvSpPr>
        <p:spPr>
          <a:xfrm>
            <a:off x="0" y="-164554"/>
            <a:ext cx="9144000" cy="857250"/>
          </a:xfrm>
        </p:spPr>
        <p:txBody>
          <a:bodyPr>
            <a:normAutofit/>
          </a:bodyPr>
          <a:lstStyle/>
          <a:p>
            <a:r>
              <a:rPr lang="ru-RU" sz="3000" dirty="0"/>
              <a:t>Сортировка перемешиванием (</a:t>
            </a:r>
            <a:r>
              <a:rPr lang="ru-RU" sz="3000" dirty="0" err="1"/>
              <a:t>Cocktail</a:t>
            </a:r>
            <a:r>
              <a:rPr lang="ru-RU" sz="3000" dirty="0"/>
              <a:t> </a:t>
            </a:r>
            <a:r>
              <a:rPr lang="ru-RU" sz="3000" dirty="0" err="1"/>
              <a:t>Shaker</a:t>
            </a:r>
            <a:r>
              <a:rPr lang="ru-RU" sz="3000" dirty="0"/>
              <a:t> </a:t>
            </a:r>
            <a:r>
              <a:rPr lang="ru-RU" sz="3000" dirty="0" err="1"/>
              <a:t>Sort</a:t>
            </a:r>
            <a:r>
              <a:rPr lang="ru-RU" sz="3000" dirty="0"/>
              <a:t>)</a:t>
            </a:r>
          </a:p>
        </p:txBody>
      </p:sp>
      <p:sp>
        <p:nvSpPr>
          <p:cNvPr id="6" name="Прямоугольник 5"/>
          <p:cNvSpPr/>
          <p:nvPr/>
        </p:nvSpPr>
        <p:spPr>
          <a:xfrm>
            <a:off x="107504" y="699542"/>
            <a:ext cx="5472608" cy="1923604"/>
          </a:xfrm>
          <a:prstGeom prst="rect">
            <a:avLst/>
          </a:prstGeom>
        </p:spPr>
        <p:txBody>
          <a:bodyPr wrap="square">
            <a:spAutoFit/>
          </a:bodyPr>
          <a:lstStyle/>
          <a:p>
            <a:r>
              <a:rPr lang="ru-RU" sz="1700" dirty="0" err="1"/>
              <a:t>Коктейльная</a:t>
            </a:r>
            <a:r>
              <a:rPr lang="ru-RU" sz="1700" dirty="0"/>
              <a:t> сортировка </a:t>
            </a:r>
            <a:r>
              <a:rPr lang="en-US" sz="1700" dirty="0"/>
              <a:t>(Cocktail Shaker Sort) </a:t>
            </a:r>
            <a:r>
              <a:rPr lang="ru-RU" sz="1700" dirty="0"/>
              <a:t>— является разновидностью алгоритма пузырьковой сортировки. Как и алгоритм пузырьковой сортировки, </a:t>
            </a:r>
            <a:r>
              <a:rPr lang="ru-RU" sz="1700" dirty="0" err="1"/>
              <a:t>коктейльная</a:t>
            </a:r>
            <a:r>
              <a:rPr lang="ru-RU" sz="1700" dirty="0"/>
              <a:t> сортировка сортирует массив элементов, многократно меняя местами соседние элементы, если они расположены в неправильном порядке. Однако </a:t>
            </a:r>
            <a:r>
              <a:rPr lang="ru-RU" sz="1700" dirty="0" err="1"/>
              <a:t>коктейльная</a:t>
            </a:r>
            <a:r>
              <a:rPr lang="ru-RU" sz="1700" dirty="0"/>
              <a:t> сортировка также движется в обратном</a:t>
            </a:r>
          </a:p>
        </p:txBody>
      </p:sp>
      <p:pic>
        <p:nvPicPr>
          <p:cNvPr id="7" name="Picture 4"/>
          <p:cNvPicPr>
            <a:picLocks noChangeAspect="1" noChangeArrowheads="1"/>
          </p:cNvPicPr>
          <p:nvPr/>
        </p:nvPicPr>
        <p:blipFill>
          <a:blip r:embed="rId2" cstate="print"/>
          <a:srcRect/>
          <a:stretch>
            <a:fillRect/>
          </a:stretch>
        </p:blipFill>
        <p:spPr bwMode="auto">
          <a:xfrm>
            <a:off x="5697924" y="627535"/>
            <a:ext cx="3446076" cy="3672407"/>
          </a:xfrm>
          <a:prstGeom prst="rect">
            <a:avLst/>
          </a:prstGeom>
          <a:noFill/>
          <a:ln w="9525">
            <a:noFill/>
            <a:miter lim="800000"/>
            <a:headEnd/>
            <a:tailEnd/>
          </a:ln>
        </p:spPr>
      </p:pic>
      <p:pic>
        <p:nvPicPr>
          <p:cNvPr id="8" name="Picture 3"/>
          <p:cNvPicPr>
            <a:picLocks noChangeAspect="1" noChangeArrowheads="1"/>
          </p:cNvPicPr>
          <p:nvPr/>
        </p:nvPicPr>
        <p:blipFill>
          <a:blip r:embed="rId3" cstate="print"/>
          <a:srcRect t="57571"/>
          <a:stretch>
            <a:fillRect/>
          </a:stretch>
        </p:blipFill>
        <p:spPr bwMode="auto">
          <a:xfrm>
            <a:off x="5724128" y="4280892"/>
            <a:ext cx="3419872" cy="862607"/>
          </a:xfrm>
          <a:prstGeom prst="rect">
            <a:avLst/>
          </a:prstGeom>
          <a:noFill/>
          <a:ln w="9525">
            <a:noFill/>
            <a:miter lim="800000"/>
            <a:headEnd/>
            <a:tailEnd/>
          </a:ln>
        </p:spPr>
      </p:pic>
      <p:sp>
        <p:nvSpPr>
          <p:cNvPr id="9" name="Прямоугольник 8"/>
          <p:cNvSpPr/>
          <p:nvPr/>
        </p:nvSpPr>
        <p:spPr>
          <a:xfrm>
            <a:off x="1403648" y="10492630"/>
            <a:ext cx="4572000" cy="646331"/>
          </a:xfrm>
          <a:prstGeom prst="rect">
            <a:avLst/>
          </a:prstGeom>
        </p:spPr>
        <p:txBody>
          <a:bodyPr wrap="square">
            <a:spAutoFit/>
          </a:bodyPr>
          <a:lstStyle/>
          <a:p>
            <a:r>
              <a:rPr lang="ru-RU" b="1" dirty="0"/>
              <a:t>Временная сложность: O(</a:t>
            </a:r>
            <a:r>
              <a:rPr lang="ru-RU" b="1" dirty="0" err="1"/>
              <a:t>n</a:t>
            </a:r>
            <a:r>
              <a:rPr lang="ru-RU" b="1" dirty="0"/>
              <a:t>²)</a:t>
            </a:r>
          </a:p>
          <a:p>
            <a:r>
              <a:rPr lang="ru-RU" b="1" dirty="0"/>
              <a:t>Пространственная сложность: O(1)</a:t>
            </a:r>
          </a:p>
        </p:txBody>
      </p:sp>
      <p:sp>
        <p:nvSpPr>
          <p:cNvPr id="10" name="Прямоугольник 9"/>
          <p:cNvSpPr/>
          <p:nvPr/>
        </p:nvSpPr>
        <p:spPr>
          <a:xfrm>
            <a:off x="2627784" y="4610040"/>
            <a:ext cx="4572000" cy="553998"/>
          </a:xfrm>
          <a:prstGeom prst="rect">
            <a:avLst/>
          </a:prstGeom>
        </p:spPr>
        <p:txBody>
          <a:bodyPr wrap="square">
            <a:spAutoFit/>
          </a:bodyPr>
          <a:lstStyle/>
          <a:p>
            <a:r>
              <a:rPr lang="ru-RU" sz="1500" b="1" dirty="0"/>
              <a:t>Временная сложность: O(</a:t>
            </a:r>
            <a:r>
              <a:rPr lang="ru-RU" sz="1500" b="1" dirty="0" err="1"/>
              <a:t>n</a:t>
            </a:r>
            <a:r>
              <a:rPr lang="ru-RU" sz="1500" b="1" dirty="0"/>
              <a:t>²)</a:t>
            </a:r>
          </a:p>
          <a:p>
            <a:r>
              <a:rPr lang="ru-RU" sz="1500" b="1" dirty="0"/>
              <a:t>Пространственная сложность: O(1)</a:t>
            </a:r>
          </a:p>
        </p:txBody>
      </p:sp>
      <p:pic>
        <p:nvPicPr>
          <p:cNvPr id="3074" name="Picture 2" descr="E:\Sorting_shaker_sort_anim.gif"/>
          <p:cNvPicPr>
            <a:picLocks noChangeAspect="1" noChangeArrowheads="1" noCrop="1"/>
          </p:cNvPicPr>
          <p:nvPr/>
        </p:nvPicPr>
        <p:blipFill>
          <a:blip r:embed="rId4" cstate="print"/>
          <a:srcRect/>
          <a:stretch>
            <a:fillRect/>
          </a:stretch>
        </p:blipFill>
        <p:spPr bwMode="auto">
          <a:xfrm>
            <a:off x="0" y="2643758"/>
            <a:ext cx="2638425" cy="2447925"/>
          </a:xfrm>
          <a:prstGeom prst="rect">
            <a:avLst/>
          </a:prstGeom>
          <a:ln>
            <a:noFill/>
          </a:ln>
          <a:effectLst>
            <a:outerShdw blurRad="292100" dist="139700" dir="2700000" algn="tl" rotWithShape="0">
              <a:srgbClr val="333333">
                <a:alpha val="65000"/>
              </a:srgbClr>
            </a:outerShdw>
          </a:effectLst>
        </p:spPr>
      </p:pic>
      <p:sp>
        <p:nvSpPr>
          <p:cNvPr id="12" name="Прямоугольник 11"/>
          <p:cNvSpPr/>
          <p:nvPr/>
        </p:nvSpPr>
        <p:spPr>
          <a:xfrm>
            <a:off x="2699792" y="2499742"/>
            <a:ext cx="2952328" cy="2185214"/>
          </a:xfrm>
          <a:prstGeom prst="rect">
            <a:avLst/>
          </a:prstGeom>
        </p:spPr>
        <p:txBody>
          <a:bodyPr wrap="square">
            <a:spAutoFit/>
          </a:bodyPr>
          <a:lstStyle/>
          <a:p>
            <a:r>
              <a:rPr lang="ru-RU" sz="1700" dirty="0"/>
              <a:t>направлении после каждого прохода по массиву, что в некоторых случаях делает её более эффективной. </a:t>
            </a:r>
            <a:r>
              <a:rPr lang="ru-RU" sz="1700" dirty="0" err="1"/>
              <a:t>Коктейльная</a:t>
            </a:r>
            <a:r>
              <a:rPr lang="ru-RU" sz="1700" dirty="0"/>
              <a:t> сортировка поочередно обходит заданный массив в обоих направлениях.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p:cNvSpPr>
            <a:spLocks noGrp="1"/>
          </p:cNvSpPr>
          <p:nvPr>
            <p:ph type="title"/>
          </p:nvPr>
        </p:nvSpPr>
        <p:spPr>
          <a:xfrm>
            <a:off x="0" y="-164554"/>
            <a:ext cx="9144000" cy="857250"/>
          </a:xfrm>
        </p:spPr>
        <p:txBody>
          <a:bodyPr>
            <a:normAutofit/>
          </a:bodyPr>
          <a:lstStyle/>
          <a:p>
            <a:r>
              <a:rPr lang="ru-RU" sz="3600" dirty="0"/>
              <a:t>Сортировка расчёской</a:t>
            </a:r>
            <a:r>
              <a:rPr lang="en-US" sz="3600" dirty="0"/>
              <a:t> (Comb Sort)</a:t>
            </a:r>
            <a:endParaRPr lang="ru-RU" sz="3600" dirty="0"/>
          </a:p>
        </p:txBody>
      </p:sp>
      <p:sp>
        <p:nvSpPr>
          <p:cNvPr id="6" name="Прямоугольник 5"/>
          <p:cNvSpPr/>
          <p:nvPr/>
        </p:nvSpPr>
        <p:spPr>
          <a:xfrm>
            <a:off x="0" y="483518"/>
            <a:ext cx="5364088" cy="2446824"/>
          </a:xfrm>
          <a:prstGeom prst="rect">
            <a:avLst/>
          </a:prstGeom>
        </p:spPr>
        <p:txBody>
          <a:bodyPr wrap="square">
            <a:spAutoFit/>
          </a:bodyPr>
          <a:lstStyle/>
          <a:p>
            <a:r>
              <a:rPr lang="ru-RU" sz="1700" dirty="0"/>
              <a:t>Сортировка расчёской</a:t>
            </a:r>
            <a:r>
              <a:rPr lang="en-US" sz="1700" dirty="0"/>
              <a:t> (Comb Sort) </a:t>
            </a:r>
            <a:r>
              <a:rPr lang="ru-RU" sz="1700" dirty="0"/>
              <a:t>— это, по сути, улучшение пузырьковой сортировки. Основная идея — устранить маленькие значения в конце списка, которые крайне замедляют сортировку пузырьком. Пузырьковая сортировка всегда сравнивает соседние значения. Поэтому все инверсии удаляются одна за другой. Сортировка гребенкой улучшает пузырьковую сортировку, используя зазор размером больше. Зазор начинается с большого значения и уменьшается</a:t>
            </a:r>
          </a:p>
        </p:txBody>
      </p:sp>
      <p:pic>
        <p:nvPicPr>
          <p:cNvPr id="3075" name="Picture 3"/>
          <p:cNvPicPr>
            <a:picLocks noChangeAspect="1" noChangeArrowheads="1"/>
          </p:cNvPicPr>
          <p:nvPr/>
        </p:nvPicPr>
        <p:blipFill>
          <a:blip r:embed="rId2" cstate="print"/>
          <a:srcRect/>
          <a:stretch>
            <a:fillRect/>
          </a:stretch>
        </p:blipFill>
        <p:spPr bwMode="auto">
          <a:xfrm>
            <a:off x="5364088" y="564974"/>
            <a:ext cx="3779912" cy="4578526"/>
          </a:xfrm>
          <a:prstGeom prst="rect">
            <a:avLst/>
          </a:prstGeom>
          <a:noFill/>
          <a:ln w="9525">
            <a:noFill/>
            <a:miter lim="800000"/>
            <a:headEnd/>
            <a:tailEnd/>
          </a:ln>
          <a:effectLst/>
        </p:spPr>
      </p:pic>
      <p:pic>
        <p:nvPicPr>
          <p:cNvPr id="2050" name="Picture 2" descr="E:\Comb_sort_demo.gif"/>
          <p:cNvPicPr>
            <a:picLocks noChangeAspect="1" noChangeArrowheads="1" noCrop="1"/>
          </p:cNvPicPr>
          <p:nvPr/>
        </p:nvPicPr>
        <p:blipFill>
          <a:blip r:embed="rId3" cstate="print"/>
          <a:srcRect/>
          <a:stretch>
            <a:fillRect/>
          </a:stretch>
        </p:blipFill>
        <p:spPr bwMode="auto">
          <a:xfrm>
            <a:off x="0" y="2859782"/>
            <a:ext cx="2239610" cy="2139702"/>
          </a:xfrm>
          <a:prstGeom prst="rect">
            <a:avLst/>
          </a:prstGeom>
          <a:ln>
            <a:noFill/>
          </a:ln>
          <a:effectLst>
            <a:outerShdw blurRad="292100" dist="139700" dir="2700000" algn="tl" rotWithShape="0">
              <a:srgbClr val="333333">
                <a:alpha val="65000"/>
              </a:srgbClr>
            </a:outerShdw>
          </a:effectLst>
        </p:spPr>
      </p:pic>
      <p:sp>
        <p:nvSpPr>
          <p:cNvPr id="9" name="Прямоугольник 8"/>
          <p:cNvSpPr/>
          <p:nvPr/>
        </p:nvSpPr>
        <p:spPr>
          <a:xfrm>
            <a:off x="2339752" y="2787774"/>
            <a:ext cx="3024336" cy="1923604"/>
          </a:xfrm>
          <a:prstGeom prst="rect">
            <a:avLst/>
          </a:prstGeom>
        </p:spPr>
        <p:txBody>
          <a:bodyPr wrap="square">
            <a:spAutoFit/>
          </a:bodyPr>
          <a:lstStyle/>
          <a:p>
            <a:r>
              <a:rPr lang="ru-RU" sz="1700" dirty="0"/>
              <a:t>с каждой итерацией, пока не достигнет значения 1. Таким образом, сортировка гребенкой удаляет более одного значения инверсии за один обмен и работает лучше пузырьковой сортировки.</a:t>
            </a:r>
          </a:p>
        </p:txBody>
      </p:sp>
      <p:sp>
        <p:nvSpPr>
          <p:cNvPr id="10" name="Прямоугольник 9"/>
          <p:cNvSpPr/>
          <p:nvPr/>
        </p:nvSpPr>
        <p:spPr>
          <a:xfrm>
            <a:off x="2339752" y="4587974"/>
            <a:ext cx="4572000" cy="553998"/>
          </a:xfrm>
          <a:prstGeom prst="rect">
            <a:avLst/>
          </a:prstGeom>
        </p:spPr>
        <p:txBody>
          <a:bodyPr wrap="square">
            <a:spAutoFit/>
          </a:bodyPr>
          <a:lstStyle/>
          <a:p>
            <a:r>
              <a:rPr lang="ru-RU" sz="1500" b="1" dirty="0"/>
              <a:t>Временная сложность: O(</a:t>
            </a:r>
            <a:r>
              <a:rPr lang="ru-RU" sz="1500" b="1" dirty="0" err="1"/>
              <a:t>n</a:t>
            </a:r>
            <a:r>
              <a:rPr lang="ru-RU" sz="1500" b="1" dirty="0"/>
              <a:t>²)</a:t>
            </a:r>
          </a:p>
          <a:p>
            <a:r>
              <a:rPr lang="ru-RU" sz="1500" b="1" dirty="0"/>
              <a:t>Пространственная сложность: O(1)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p:cNvSpPr>
            <a:spLocks noGrp="1"/>
          </p:cNvSpPr>
          <p:nvPr>
            <p:ph type="title"/>
          </p:nvPr>
        </p:nvSpPr>
        <p:spPr>
          <a:xfrm>
            <a:off x="0" y="-85700"/>
            <a:ext cx="9144000" cy="857250"/>
          </a:xfrm>
        </p:spPr>
        <p:txBody>
          <a:bodyPr>
            <a:normAutofit/>
          </a:bodyPr>
          <a:lstStyle/>
          <a:p>
            <a:r>
              <a:rPr lang="ru-RU" sz="3600" dirty="0"/>
              <a:t>Сортировка вставкой (</a:t>
            </a:r>
            <a:r>
              <a:rPr lang="en-US" sz="3600" dirty="0"/>
              <a:t>Insertion Sort)</a:t>
            </a:r>
            <a:endParaRPr lang="ru-RU" sz="3600" dirty="0"/>
          </a:p>
        </p:txBody>
      </p:sp>
      <p:sp>
        <p:nvSpPr>
          <p:cNvPr id="5" name="Прямоугольник 4"/>
          <p:cNvSpPr/>
          <p:nvPr/>
        </p:nvSpPr>
        <p:spPr>
          <a:xfrm>
            <a:off x="107504" y="699542"/>
            <a:ext cx="5040560" cy="3416320"/>
          </a:xfrm>
          <a:prstGeom prst="rect">
            <a:avLst/>
          </a:prstGeom>
        </p:spPr>
        <p:txBody>
          <a:bodyPr wrap="square">
            <a:spAutoFit/>
          </a:bodyPr>
          <a:lstStyle/>
          <a:p>
            <a:r>
              <a:rPr lang="ru-RU" dirty="0"/>
              <a:t>Сортировка вставкой (</a:t>
            </a:r>
            <a:r>
              <a:rPr lang="en-US" dirty="0"/>
              <a:t>Insertion Sort</a:t>
            </a:r>
            <a:r>
              <a:rPr lang="ru-RU" dirty="0"/>
              <a:t>) — это простой алгоритм сортировки, который итеративно вставляет каждый элемент </a:t>
            </a:r>
            <a:r>
              <a:rPr lang="ru-RU" dirty="0" err="1"/>
              <a:t>неотсортированного</a:t>
            </a:r>
            <a:r>
              <a:rPr lang="ru-RU" dirty="0"/>
              <a:t> списка на его правильную позицию в отсортированной части списка. Это похоже на сортировку игральных карт в руках. Вы делите карты на две группы: отсортированные и </a:t>
            </a:r>
            <a:r>
              <a:rPr lang="ru-RU" dirty="0" err="1"/>
              <a:t>неотсортированные</a:t>
            </a:r>
            <a:r>
              <a:rPr lang="ru-RU" dirty="0"/>
              <a:t>. Затем вы выбираете карту из </a:t>
            </a:r>
            <a:r>
              <a:rPr lang="ru-RU" dirty="0" err="1"/>
              <a:t>неотсортированной</a:t>
            </a:r>
            <a:r>
              <a:rPr lang="ru-RU" dirty="0"/>
              <a:t> группы и кладете ее на нужное место в отсортированной группе.</a:t>
            </a:r>
          </a:p>
          <a:p>
            <a:endParaRPr lang="en-US" b="1" dirty="0"/>
          </a:p>
        </p:txBody>
      </p:sp>
      <p:pic>
        <p:nvPicPr>
          <p:cNvPr id="55298" name="Picture 2"/>
          <p:cNvPicPr>
            <a:picLocks noChangeAspect="1" noChangeArrowheads="1"/>
          </p:cNvPicPr>
          <p:nvPr/>
        </p:nvPicPr>
        <p:blipFill>
          <a:blip r:embed="rId2" cstate="print"/>
          <a:srcRect l="25168"/>
          <a:stretch>
            <a:fillRect/>
          </a:stretch>
        </p:blipFill>
        <p:spPr bwMode="auto">
          <a:xfrm>
            <a:off x="5292080" y="699542"/>
            <a:ext cx="3785961" cy="3024336"/>
          </a:xfrm>
          <a:prstGeom prst="rect">
            <a:avLst/>
          </a:prstGeom>
          <a:noFill/>
          <a:ln w="9525">
            <a:noFill/>
            <a:miter lim="800000"/>
            <a:headEnd/>
            <a:tailEnd/>
          </a:ln>
        </p:spPr>
      </p:pic>
      <p:sp>
        <p:nvSpPr>
          <p:cNvPr id="6" name="Прямоугольник 5"/>
          <p:cNvSpPr/>
          <p:nvPr/>
        </p:nvSpPr>
        <p:spPr>
          <a:xfrm>
            <a:off x="0" y="3763655"/>
            <a:ext cx="9144000" cy="1400383"/>
          </a:xfrm>
          <a:prstGeom prst="rect">
            <a:avLst/>
          </a:prstGeom>
        </p:spPr>
        <p:txBody>
          <a:bodyPr wrap="square">
            <a:spAutoFit/>
          </a:bodyPr>
          <a:lstStyle/>
          <a:p>
            <a:pPr>
              <a:buFont typeface="Calibri" pitchFamily="34" charset="0"/>
              <a:buChar char="‐"/>
            </a:pPr>
            <a:r>
              <a:rPr lang="ru-RU" sz="1700" dirty="0"/>
              <a:t>Начнем со второго элемента массива, поскольку первый элемент считается отсортированным.</a:t>
            </a:r>
          </a:p>
          <a:p>
            <a:pPr>
              <a:buFont typeface="Calibri" pitchFamily="34" charset="0"/>
              <a:buChar char="‐"/>
            </a:pPr>
            <a:r>
              <a:rPr lang="ru-RU" sz="1700" dirty="0"/>
              <a:t>Сравним второй элемент с первым, если второй элемент меньше, поменяйте их местами.</a:t>
            </a:r>
          </a:p>
          <a:p>
            <a:pPr>
              <a:buFont typeface="Calibri" pitchFamily="34" charset="0"/>
              <a:buChar char="‐"/>
            </a:pPr>
            <a:r>
              <a:rPr lang="ru-RU" sz="1700" dirty="0"/>
              <a:t>Перейдём к третьему элементу, сравните его с первыми двумя и поместите на правильную позицию.</a:t>
            </a:r>
          </a:p>
          <a:p>
            <a:pPr>
              <a:buFont typeface="Calibri" pitchFamily="34" charset="0"/>
              <a:buChar char="‐"/>
            </a:pPr>
            <a:r>
              <a:rPr lang="ru-RU" sz="1700" dirty="0"/>
              <a:t>Повторяем, пока весь массив не будет отсортирован.</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2008" y="0"/>
            <a:ext cx="4644008" cy="4524315"/>
          </a:xfrm>
          <a:prstGeom prst="rect">
            <a:avLst/>
          </a:prstGeom>
        </p:spPr>
        <p:txBody>
          <a:bodyPr wrap="square">
            <a:spAutoFit/>
          </a:bodyPr>
          <a:lstStyle/>
          <a:p>
            <a:r>
              <a:rPr lang="ru-RU" b="1" dirty="0"/>
              <a:t>Преимущества:</a:t>
            </a:r>
            <a:endParaRPr lang="ru-RU" dirty="0"/>
          </a:p>
          <a:p>
            <a:pPr marL="87313" indent="-87313">
              <a:buFont typeface="Calibri" pitchFamily="34" charset="0"/>
              <a:buChar char="‐"/>
            </a:pPr>
            <a:r>
              <a:rPr lang="ru-RU" dirty="0"/>
              <a:t>«</a:t>
            </a:r>
            <a:r>
              <a:rPr lang="ru-RU" dirty="0" err="1"/>
              <a:t>in-place</a:t>
            </a:r>
            <a:r>
              <a:rPr lang="ru-RU" dirty="0"/>
              <a:t>» алгоритм - не требует дополнительного объема памяти.</a:t>
            </a:r>
          </a:p>
          <a:p>
            <a:pPr marL="87313" indent="-87313">
              <a:buFont typeface="Calibri" pitchFamily="34" charset="0"/>
              <a:buChar char="‐"/>
            </a:pPr>
            <a:r>
              <a:rPr lang="ru-RU" dirty="0"/>
              <a:t>Стабильный алгоритм сортировки</a:t>
            </a:r>
          </a:p>
          <a:p>
            <a:pPr marL="87313" indent="-87313">
              <a:buFont typeface="Calibri" pitchFamily="34" charset="0"/>
              <a:buChar char="‐"/>
            </a:pPr>
            <a:r>
              <a:rPr lang="ru-RU" dirty="0"/>
              <a:t>Адаптивный. Количество инверсий прямо пропорционально количеству перестановок. Например, для отсортированного массива перестановка не производится, и занимает всего O(</a:t>
            </a:r>
            <a:r>
              <a:rPr lang="ru-RU" dirty="0" err="1"/>
              <a:t>n</a:t>
            </a:r>
            <a:r>
              <a:rPr lang="ru-RU" dirty="0"/>
              <a:t>) времени.</a:t>
            </a:r>
          </a:p>
          <a:p>
            <a:pPr>
              <a:buFont typeface="Calibri" pitchFamily="34" charset="0"/>
              <a:buChar char="‐"/>
            </a:pPr>
            <a:endParaRPr lang="ru-RU" sz="800" dirty="0"/>
          </a:p>
          <a:p>
            <a:r>
              <a:rPr lang="ru-RU" b="1" dirty="0"/>
              <a:t>Недостатки:</a:t>
            </a:r>
            <a:endParaRPr lang="ru-RU" dirty="0"/>
          </a:p>
          <a:p>
            <a:pPr marL="87313" indent="-87313">
              <a:buFont typeface="Calibri" pitchFamily="34" charset="0"/>
              <a:buChar char="‐"/>
            </a:pPr>
            <a:r>
              <a:rPr lang="ru-RU" dirty="0"/>
              <a:t>Неэффективно для больших списков.</a:t>
            </a:r>
          </a:p>
          <a:p>
            <a:pPr marL="87313" indent="-87313">
              <a:buFont typeface="Calibri" pitchFamily="34" charset="0"/>
              <a:buChar char="‐"/>
            </a:pPr>
            <a:r>
              <a:rPr lang="ru-RU" dirty="0"/>
              <a:t>В большинстве случаев не так эффективно, как другие алгоритмы сортировки (например, сортировка слиянием, быстрая сортировка).</a:t>
            </a:r>
          </a:p>
        </p:txBody>
      </p:sp>
      <p:sp>
        <p:nvSpPr>
          <p:cNvPr id="4" name="Прямоугольник 3"/>
          <p:cNvSpPr/>
          <p:nvPr/>
        </p:nvSpPr>
        <p:spPr>
          <a:xfrm>
            <a:off x="0" y="4497169"/>
            <a:ext cx="4572000" cy="646331"/>
          </a:xfrm>
          <a:prstGeom prst="rect">
            <a:avLst/>
          </a:prstGeom>
        </p:spPr>
        <p:txBody>
          <a:bodyPr wrap="square">
            <a:spAutoFit/>
          </a:bodyPr>
          <a:lstStyle/>
          <a:p>
            <a:r>
              <a:rPr lang="ru-RU" b="1" dirty="0"/>
              <a:t>Временная сложность: O(</a:t>
            </a:r>
            <a:r>
              <a:rPr lang="ru-RU" b="1" dirty="0" err="1"/>
              <a:t>n</a:t>
            </a:r>
            <a:r>
              <a:rPr lang="ru-RU" b="1" dirty="0"/>
              <a:t>²)</a:t>
            </a:r>
          </a:p>
          <a:p>
            <a:r>
              <a:rPr lang="ru-RU" b="1" dirty="0"/>
              <a:t>Пространственная сложность: O(1)</a:t>
            </a:r>
          </a:p>
        </p:txBody>
      </p:sp>
      <p:pic>
        <p:nvPicPr>
          <p:cNvPr id="5" name="Picture 4"/>
          <p:cNvPicPr>
            <a:picLocks noChangeAspect="1" noChangeArrowheads="1"/>
          </p:cNvPicPr>
          <p:nvPr/>
        </p:nvPicPr>
        <p:blipFill>
          <a:blip r:embed="rId2" cstate="print"/>
          <a:srcRect/>
          <a:stretch>
            <a:fillRect/>
          </a:stretch>
        </p:blipFill>
        <p:spPr bwMode="auto">
          <a:xfrm>
            <a:off x="4788024" y="0"/>
            <a:ext cx="5603437" cy="51435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Салями-Молекула\Pictures\Sorting Algoritms\1.png"/>
          <p:cNvPicPr>
            <a:picLocks noChangeAspect="1" noChangeArrowheads="1"/>
          </p:cNvPicPr>
          <p:nvPr/>
        </p:nvPicPr>
        <p:blipFill>
          <a:blip r:embed="rId2" cstate="print"/>
          <a:srcRect/>
          <a:stretch>
            <a:fillRect/>
          </a:stretch>
        </p:blipFill>
        <p:spPr bwMode="auto">
          <a:xfrm>
            <a:off x="6174353" y="483518"/>
            <a:ext cx="2969647" cy="936000"/>
          </a:xfrm>
          <a:prstGeom prst="rect">
            <a:avLst/>
          </a:prstGeom>
          <a:noFill/>
        </p:spPr>
      </p:pic>
      <p:sp>
        <p:nvSpPr>
          <p:cNvPr id="4" name="Прямоугольник 3"/>
          <p:cNvSpPr/>
          <p:nvPr/>
        </p:nvSpPr>
        <p:spPr>
          <a:xfrm>
            <a:off x="72008" y="612433"/>
            <a:ext cx="6084168" cy="2031325"/>
          </a:xfrm>
          <a:prstGeom prst="rect">
            <a:avLst/>
          </a:prstGeom>
        </p:spPr>
        <p:txBody>
          <a:bodyPr wrap="square">
            <a:spAutoFit/>
          </a:bodyPr>
          <a:lstStyle/>
          <a:p>
            <a:r>
              <a:rPr lang="ru-RU" dirty="0"/>
              <a:t>Сортировка выбором</a:t>
            </a:r>
            <a:r>
              <a:rPr lang="en-US" dirty="0"/>
              <a:t> (Selection Sort)</a:t>
            </a:r>
            <a:r>
              <a:rPr lang="ru-RU" dirty="0"/>
              <a:t> — это алгоритм сортировки, основанный на сравнении, который многократно выбирает наименьший (или наибольший) элемент из </a:t>
            </a:r>
            <a:r>
              <a:rPr lang="ru-RU" dirty="0" err="1"/>
              <a:t>неотсортированной</a:t>
            </a:r>
            <a:r>
              <a:rPr lang="ru-RU" dirty="0"/>
              <a:t> части массива и меняет его местами с первым </a:t>
            </a:r>
            <a:r>
              <a:rPr lang="ru-RU" dirty="0" err="1"/>
              <a:t>неотсортированным</a:t>
            </a:r>
            <a:r>
              <a:rPr lang="ru-RU" dirty="0"/>
              <a:t> элементом. Этот процесс продолжается до тех пор, пока массив не будет полностью отсортирован.</a:t>
            </a:r>
          </a:p>
        </p:txBody>
      </p:sp>
      <p:sp>
        <p:nvSpPr>
          <p:cNvPr id="5" name="Прямоугольник 4"/>
          <p:cNvSpPr/>
          <p:nvPr/>
        </p:nvSpPr>
        <p:spPr>
          <a:xfrm>
            <a:off x="72008" y="2733764"/>
            <a:ext cx="6012160" cy="2308324"/>
          </a:xfrm>
          <a:prstGeom prst="rect">
            <a:avLst/>
          </a:prstGeom>
        </p:spPr>
        <p:txBody>
          <a:bodyPr wrap="square">
            <a:spAutoFit/>
          </a:bodyPr>
          <a:lstStyle/>
          <a:p>
            <a:pPr marL="342900" indent="-342900">
              <a:buFont typeface="+mj-lt"/>
              <a:buAutoNum type="arabicPeriod"/>
            </a:pPr>
            <a:r>
              <a:rPr lang="ru-RU" dirty="0"/>
              <a:t>Сначала мы находим наименьший элемент и меняем его местами с первым элементом. Таким образом, наименьший элемент оказывается на нужной позиции.</a:t>
            </a:r>
          </a:p>
          <a:p>
            <a:pPr marL="342900" indent="-342900">
              <a:buFont typeface="+mj-lt"/>
              <a:buAutoNum type="arabicPeriod"/>
            </a:pPr>
            <a:r>
              <a:rPr lang="ru-RU" dirty="0"/>
              <a:t>Затем мы находим наименьший среди оставшихся элементов (или второй по величине) и меняем его местами со вторым элементом.</a:t>
            </a:r>
          </a:p>
          <a:p>
            <a:pPr marL="342900" indent="-342900">
              <a:buFont typeface="+mj-lt"/>
              <a:buAutoNum type="arabicPeriod"/>
            </a:pPr>
            <a:r>
              <a:rPr lang="ru-RU" dirty="0"/>
              <a:t>Мы продолжаем это делать, пока все элементы не будут перемещены в нужные позиции.</a:t>
            </a:r>
          </a:p>
        </p:txBody>
      </p:sp>
      <p:sp>
        <p:nvSpPr>
          <p:cNvPr id="8" name="Заголовок 1"/>
          <p:cNvSpPr txBox="1">
            <a:spLocks/>
          </p:cNvSpPr>
          <p:nvPr/>
        </p:nvSpPr>
        <p:spPr>
          <a:xfrm>
            <a:off x="0" y="-85700"/>
            <a:ext cx="9144000" cy="857250"/>
          </a:xfrm>
          <a:prstGeom prst="rect">
            <a:avLst/>
          </a:prstGeom>
        </p:spPr>
        <p:txBody>
          <a:bodyPr vert="horz" lIns="91440" tIns="45720" rIns="91440" bIns="45720" rtlCol="0" anchor="ctr">
            <a:normAutofit/>
          </a:bodyPr>
          <a:lstStyle/>
          <a:p>
            <a:pPr lvl="0" algn="ctr">
              <a:spcBef>
                <a:spcPct val="0"/>
              </a:spcBef>
            </a:pPr>
            <a:r>
              <a:rPr lang="ru-RU" sz="3600" dirty="0"/>
              <a:t>Сортировка выбором</a:t>
            </a:r>
            <a:r>
              <a:rPr lang="en-US" sz="3600" dirty="0"/>
              <a:t> (Selection Sort)</a:t>
            </a:r>
            <a:endParaRPr kumimoji="0" lang="ru-RU" sz="36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8" name="Picture 4" descr="C:\Users\Салями-Молекула\Pictures\Sorting Algoritms\2.png"/>
          <p:cNvPicPr>
            <a:picLocks noChangeAspect="1" noChangeArrowheads="1"/>
          </p:cNvPicPr>
          <p:nvPr/>
        </p:nvPicPr>
        <p:blipFill>
          <a:blip r:embed="rId3" cstate="print"/>
          <a:srcRect/>
          <a:stretch>
            <a:fillRect/>
          </a:stretch>
        </p:blipFill>
        <p:spPr bwMode="auto">
          <a:xfrm>
            <a:off x="6174353" y="1419622"/>
            <a:ext cx="2969647" cy="936000"/>
          </a:xfrm>
          <a:prstGeom prst="rect">
            <a:avLst/>
          </a:prstGeom>
          <a:noFill/>
        </p:spPr>
      </p:pic>
      <p:pic>
        <p:nvPicPr>
          <p:cNvPr id="1029" name="Picture 5" descr="C:\Users\Салями-Молекула\Pictures\Sorting Algoritms\3.png"/>
          <p:cNvPicPr>
            <a:picLocks noChangeAspect="1" noChangeArrowheads="1"/>
          </p:cNvPicPr>
          <p:nvPr/>
        </p:nvPicPr>
        <p:blipFill>
          <a:blip r:embed="rId4" cstate="print"/>
          <a:srcRect/>
          <a:stretch>
            <a:fillRect/>
          </a:stretch>
        </p:blipFill>
        <p:spPr bwMode="auto">
          <a:xfrm>
            <a:off x="6174353" y="2355726"/>
            <a:ext cx="2969647" cy="936000"/>
          </a:xfrm>
          <a:prstGeom prst="rect">
            <a:avLst/>
          </a:prstGeom>
          <a:noFill/>
        </p:spPr>
      </p:pic>
      <p:pic>
        <p:nvPicPr>
          <p:cNvPr id="1030" name="Picture 6" descr="C:\Users\Салями-Молекула\Pictures\Sorting Algoritms\4.png"/>
          <p:cNvPicPr>
            <a:picLocks noChangeAspect="1" noChangeArrowheads="1"/>
          </p:cNvPicPr>
          <p:nvPr/>
        </p:nvPicPr>
        <p:blipFill>
          <a:blip r:embed="rId5" cstate="print"/>
          <a:srcRect/>
          <a:stretch>
            <a:fillRect/>
          </a:stretch>
        </p:blipFill>
        <p:spPr bwMode="auto">
          <a:xfrm>
            <a:off x="6174353" y="3291830"/>
            <a:ext cx="2969647" cy="936000"/>
          </a:xfrm>
          <a:prstGeom prst="rect">
            <a:avLst/>
          </a:prstGeom>
          <a:noFill/>
        </p:spPr>
      </p:pic>
      <p:pic>
        <p:nvPicPr>
          <p:cNvPr id="1031" name="Picture 7" descr="C:\Users\Салями-Молекула\Pictures\Sorting Algoritms\5.png"/>
          <p:cNvPicPr>
            <a:picLocks noChangeAspect="1" noChangeArrowheads="1"/>
          </p:cNvPicPr>
          <p:nvPr/>
        </p:nvPicPr>
        <p:blipFill>
          <a:blip r:embed="rId6" cstate="print"/>
          <a:srcRect/>
          <a:stretch>
            <a:fillRect/>
          </a:stretch>
        </p:blipFill>
        <p:spPr bwMode="auto">
          <a:xfrm>
            <a:off x="6174353" y="4207500"/>
            <a:ext cx="2969647" cy="9360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7" name="Picture 3"/>
          <p:cNvPicPr>
            <a:picLocks noChangeAspect="1" noChangeArrowheads="1"/>
          </p:cNvPicPr>
          <p:nvPr/>
        </p:nvPicPr>
        <p:blipFill>
          <a:blip r:embed="rId2" cstate="print"/>
          <a:srcRect/>
          <a:stretch>
            <a:fillRect/>
          </a:stretch>
        </p:blipFill>
        <p:spPr bwMode="auto">
          <a:xfrm>
            <a:off x="4399836" y="0"/>
            <a:ext cx="4744163" cy="5143500"/>
          </a:xfrm>
          <a:prstGeom prst="rect">
            <a:avLst/>
          </a:prstGeom>
          <a:noFill/>
          <a:ln w="9525">
            <a:noFill/>
            <a:miter lim="800000"/>
            <a:headEnd/>
            <a:tailEnd/>
          </a:ln>
          <a:effectLst/>
        </p:spPr>
      </p:pic>
      <p:sp>
        <p:nvSpPr>
          <p:cNvPr id="3" name="Прямоугольник 2"/>
          <p:cNvSpPr/>
          <p:nvPr/>
        </p:nvSpPr>
        <p:spPr>
          <a:xfrm>
            <a:off x="35496" y="61917"/>
            <a:ext cx="4392488" cy="3616375"/>
          </a:xfrm>
          <a:prstGeom prst="rect">
            <a:avLst/>
          </a:prstGeom>
        </p:spPr>
        <p:txBody>
          <a:bodyPr wrap="square">
            <a:spAutoFit/>
          </a:bodyPr>
          <a:lstStyle/>
          <a:p>
            <a:r>
              <a:rPr lang="ru-RU" sz="1700" b="1" dirty="0"/>
              <a:t>Преимущества:</a:t>
            </a:r>
            <a:endParaRPr lang="ru-RU" sz="1700" dirty="0"/>
          </a:p>
          <a:p>
            <a:pPr marL="87313" indent="-87313">
              <a:buFont typeface="Calibri" pitchFamily="34" charset="0"/>
              <a:buChar char="‐"/>
            </a:pPr>
            <a:r>
              <a:rPr lang="ru-RU" sz="1700" dirty="0"/>
              <a:t>Простота понимания и реализации.</a:t>
            </a:r>
          </a:p>
          <a:p>
            <a:pPr marL="87313" indent="-87313">
              <a:buFont typeface="Calibri" pitchFamily="34" charset="0"/>
              <a:buChar char="‐"/>
            </a:pPr>
            <a:r>
              <a:rPr lang="ru-RU" sz="1700" dirty="0" err="1"/>
              <a:t>in-place</a:t>
            </a:r>
            <a:r>
              <a:rPr lang="ru-RU" sz="1700" dirty="0"/>
              <a:t>» алгоритм - не требует дополнительного объема памяти. </a:t>
            </a:r>
          </a:p>
          <a:p>
            <a:pPr marL="87313" indent="-87313">
              <a:buFont typeface="Calibri" pitchFamily="34" charset="0"/>
              <a:buChar char="‐"/>
            </a:pPr>
            <a:r>
              <a:rPr lang="ru-RU" sz="1700" dirty="0"/>
              <a:t>Требует меньше перестановок (или записей в память) по сравнению со многими другими стандартными алгоритмами. Только циклическая сортировка </a:t>
            </a:r>
            <a:r>
              <a:rPr lang="en-US" sz="1700" dirty="0"/>
              <a:t>(cycle sort) </a:t>
            </a:r>
            <a:r>
              <a:rPr lang="ru-RU" sz="1700" dirty="0"/>
              <a:t>превосходит её по объёму записи в память.</a:t>
            </a:r>
          </a:p>
          <a:p>
            <a:pPr marL="342900" indent="-342900">
              <a:buFont typeface="Calibri" pitchFamily="34" charset="0"/>
              <a:buChar char="‐"/>
            </a:pPr>
            <a:endParaRPr lang="ru-RU" sz="800" dirty="0"/>
          </a:p>
          <a:p>
            <a:r>
              <a:rPr lang="ru-RU" sz="1700" b="1" dirty="0"/>
              <a:t>Недостатки:</a:t>
            </a:r>
            <a:endParaRPr lang="ru-RU" sz="1700" dirty="0"/>
          </a:p>
          <a:p>
            <a:pPr marL="87313" indent="-87313">
              <a:buFont typeface="Calibri" pitchFamily="34" charset="0"/>
              <a:buChar char="‐"/>
            </a:pPr>
            <a:r>
              <a:rPr lang="ru-RU" sz="1600" dirty="0"/>
              <a:t>Временная сложность</a:t>
            </a:r>
            <a:endParaRPr lang="ru-RU" sz="1700" dirty="0"/>
          </a:p>
          <a:p>
            <a:pPr marL="87313" indent="-87313">
              <a:buFont typeface="Calibri" pitchFamily="34" charset="0"/>
              <a:buChar char="‐"/>
            </a:pPr>
            <a:r>
              <a:rPr lang="ru-RU" sz="1700" dirty="0"/>
              <a:t>Не сохраняет относительный порядок равных элементов, т.е. неустойчивый.</a:t>
            </a:r>
          </a:p>
        </p:txBody>
      </p:sp>
      <p:sp>
        <p:nvSpPr>
          <p:cNvPr id="4" name="Прямоугольник 3"/>
          <p:cNvSpPr/>
          <p:nvPr/>
        </p:nvSpPr>
        <p:spPr>
          <a:xfrm>
            <a:off x="179512" y="4443958"/>
            <a:ext cx="4572000" cy="646331"/>
          </a:xfrm>
          <a:prstGeom prst="rect">
            <a:avLst/>
          </a:prstGeom>
        </p:spPr>
        <p:txBody>
          <a:bodyPr wrap="square">
            <a:spAutoFit/>
          </a:bodyPr>
          <a:lstStyle/>
          <a:p>
            <a:r>
              <a:rPr lang="ru-RU" b="1" dirty="0"/>
              <a:t>Временная сложность: O(</a:t>
            </a:r>
            <a:r>
              <a:rPr lang="ru-RU" b="1" dirty="0" err="1"/>
              <a:t>n</a:t>
            </a:r>
            <a:r>
              <a:rPr lang="ru-RU" b="1" dirty="0"/>
              <a:t>²)</a:t>
            </a:r>
          </a:p>
          <a:p>
            <a:r>
              <a:rPr lang="ru-RU" b="1" dirty="0"/>
              <a:t>Пространственная сложность: O(1)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p:cNvSpPr>
            <a:spLocks noGrp="1"/>
          </p:cNvSpPr>
          <p:nvPr>
            <p:ph type="title"/>
          </p:nvPr>
        </p:nvSpPr>
        <p:spPr>
          <a:xfrm>
            <a:off x="0" y="-85700"/>
            <a:ext cx="9144000" cy="857250"/>
          </a:xfrm>
        </p:spPr>
        <p:txBody>
          <a:bodyPr>
            <a:normAutofit/>
          </a:bodyPr>
          <a:lstStyle/>
          <a:p>
            <a:r>
              <a:rPr lang="ru-RU" sz="3600" dirty="0" err="1"/>
              <a:t>Гномья</a:t>
            </a:r>
            <a:r>
              <a:rPr lang="ru-RU" sz="3600" dirty="0"/>
              <a:t> сортировка(</a:t>
            </a:r>
            <a:r>
              <a:rPr lang="en-US" sz="3600" dirty="0"/>
              <a:t>Gnome Sort</a:t>
            </a:r>
            <a:r>
              <a:rPr lang="ru-RU" sz="3600" dirty="0"/>
              <a:t>)</a:t>
            </a:r>
          </a:p>
        </p:txBody>
      </p:sp>
      <p:sp>
        <p:nvSpPr>
          <p:cNvPr id="6" name="Прямоугольник 5"/>
          <p:cNvSpPr/>
          <p:nvPr/>
        </p:nvSpPr>
        <p:spPr>
          <a:xfrm>
            <a:off x="1152128" y="741928"/>
            <a:ext cx="4572000" cy="3539430"/>
          </a:xfrm>
          <a:prstGeom prst="rect">
            <a:avLst/>
          </a:prstGeom>
        </p:spPr>
        <p:txBody>
          <a:bodyPr wrap="square">
            <a:spAutoFit/>
          </a:bodyPr>
          <a:lstStyle/>
          <a:p>
            <a:r>
              <a:rPr lang="ru-RU" sz="1600" dirty="0"/>
              <a:t>Сортирует следующим образом:</a:t>
            </a:r>
          </a:p>
          <a:p>
            <a:pPr>
              <a:buFont typeface="Calibri" pitchFamily="34" charset="0"/>
              <a:buChar char="‐"/>
            </a:pPr>
            <a:r>
              <a:rPr lang="ru-RU" sz="1600" dirty="0"/>
              <a:t>Он смотрит на соседний и предыдущий горшок; если они расположены в правильном порядке, он делает шаг вперёд, в противном случае он меняет их местами и делает шаг назад.</a:t>
            </a:r>
          </a:p>
          <a:p>
            <a:pPr>
              <a:buFont typeface="Calibri" pitchFamily="34" charset="0"/>
              <a:buChar char="‐"/>
            </a:pPr>
            <a:r>
              <a:rPr lang="ru-RU" sz="1600" dirty="0"/>
              <a:t>Если предыдущего горшка нет (он в начале ряда горшков), он делает шаг вперёд; если рядом нет горшка (он в конце ряда горшков), он закончил.</a:t>
            </a:r>
          </a:p>
          <a:p>
            <a:r>
              <a:rPr lang="ru-RU" sz="1600" dirty="0"/>
              <a:t> </a:t>
            </a:r>
          </a:p>
          <a:p>
            <a:pPr>
              <a:buFont typeface="Arial" pitchFamily="34" charset="0"/>
              <a:buChar char="•"/>
            </a:pPr>
            <a:r>
              <a:rPr lang="ru-RU" sz="1600" dirty="0"/>
              <a:t>Подчёркнутые элементы — это рассматриваемая пара.</a:t>
            </a:r>
          </a:p>
          <a:p>
            <a:pPr>
              <a:buFont typeface="Arial" pitchFamily="34" charset="0"/>
              <a:buChar char="•"/>
            </a:pPr>
            <a:r>
              <a:rPr lang="ru-RU" sz="1600" dirty="0"/>
              <a:t>«Красным» отмечены пары, которые нужно поменять местами.</a:t>
            </a:r>
          </a:p>
          <a:p>
            <a:pPr>
              <a:buFont typeface="Arial" pitchFamily="34" charset="0"/>
              <a:buChar char="•"/>
            </a:pPr>
            <a:r>
              <a:rPr lang="ru-RU" sz="1600" dirty="0"/>
              <a:t>Результат обмена окрашен в синий цвет.</a:t>
            </a:r>
          </a:p>
        </p:txBody>
      </p:sp>
      <p:pic>
        <p:nvPicPr>
          <p:cNvPr id="1026" name="Picture 2"/>
          <p:cNvPicPr>
            <a:picLocks noChangeAspect="1" noChangeArrowheads="1"/>
          </p:cNvPicPr>
          <p:nvPr/>
        </p:nvPicPr>
        <p:blipFill>
          <a:blip r:embed="rId2" cstate="print"/>
          <a:srcRect r="48883" b="4433"/>
          <a:stretch>
            <a:fillRect/>
          </a:stretch>
        </p:blipFill>
        <p:spPr bwMode="auto">
          <a:xfrm>
            <a:off x="0" y="843558"/>
            <a:ext cx="1068603" cy="3291830"/>
          </a:xfrm>
          <a:prstGeom prst="rect">
            <a:avLst/>
          </a:prstGeom>
          <a:ln>
            <a:noFill/>
          </a:ln>
          <a:effectLst>
            <a:outerShdw blurRad="292100" dist="139700" dir="2700000" algn="tl" rotWithShape="0">
              <a:srgbClr val="333333">
                <a:alpha val="65000"/>
              </a:srgbClr>
            </a:outerShdw>
          </a:effectLst>
        </p:spPr>
      </p:pic>
      <p:pic>
        <p:nvPicPr>
          <p:cNvPr id="5" name="Picture 2"/>
          <p:cNvPicPr>
            <a:picLocks noChangeAspect="1" noChangeArrowheads="1"/>
          </p:cNvPicPr>
          <p:nvPr/>
        </p:nvPicPr>
        <p:blipFill>
          <a:blip r:embed="rId3" cstate="print"/>
          <a:srcRect/>
          <a:stretch>
            <a:fillRect/>
          </a:stretch>
        </p:blipFill>
        <p:spPr bwMode="auto">
          <a:xfrm>
            <a:off x="5694290" y="555526"/>
            <a:ext cx="3449710" cy="4587973"/>
          </a:xfrm>
          <a:prstGeom prst="rect">
            <a:avLst/>
          </a:prstGeom>
          <a:noFill/>
          <a:ln w="9525">
            <a:noFill/>
            <a:miter lim="800000"/>
            <a:headEnd/>
            <a:tailEnd/>
          </a:ln>
          <a:effectLst/>
        </p:spPr>
      </p:pic>
      <p:sp>
        <p:nvSpPr>
          <p:cNvPr id="7" name="Прямоугольник 6"/>
          <p:cNvSpPr/>
          <p:nvPr/>
        </p:nvSpPr>
        <p:spPr>
          <a:xfrm>
            <a:off x="144016" y="4443958"/>
            <a:ext cx="4572000" cy="646331"/>
          </a:xfrm>
          <a:prstGeom prst="rect">
            <a:avLst/>
          </a:prstGeom>
        </p:spPr>
        <p:txBody>
          <a:bodyPr wrap="square">
            <a:spAutoFit/>
          </a:bodyPr>
          <a:lstStyle/>
          <a:p>
            <a:r>
              <a:rPr lang="ru-RU" b="1" dirty="0"/>
              <a:t>Временная сложность: O(</a:t>
            </a:r>
            <a:r>
              <a:rPr lang="ru-RU" b="1" dirty="0" err="1"/>
              <a:t>n</a:t>
            </a:r>
            <a:r>
              <a:rPr lang="ru-RU" b="1" dirty="0"/>
              <a:t>²)</a:t>
            </a:r>
          </a:p>
          <a:p>
            <a:r>
              <a:rPr lang="ru-RU" b="1" dirty="0"/>
              <a:t>Пространственная сложность: O(1)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p:cNvSpPr>
            <a:spLocks noGrp="1"/>
          </p:cNvSpPr>
          <p:nvPr>
            <p:ph type="title"/>
          </p:nvPr>
        </p:nvSpPr>
        <p:spPr>
          <a:xfrm>
            <a:off x="0" y="-85700"/>
            <a:ext cx="9144000" cy="857250"/>
          </a:xfrm>
        </p:spPr>
        <p:txBody>
          <a:bodyPr>
            <a:normAutofit/>
          </a:bodyPr>
          <a:lstStyle/>
          <a:p>
            <a:r>
              <a:rPr lang="ru-RU" sz="3600" dirty="0"/>
              <a:t>Циклическая сортировка (</a:t>
            </a:r>
            <a:r>
              <a:rPr lang="en-US" sz="3600" dirty="0"/>
              <a:t>Cycle sort</a:t>
            </a:r>
            <a:r>
              <a:rPr lang="ru-RU" sz="3600" dirty="0"/>
              <a:t>)</a:t>
            </a:r>
          </a:p>
        </p:txBody>
      </p:sp>
      <p:sp>
        <p:nvSpPr>
          <p:cNvPr id="5" name="Прямоугольник 4"/>
          <p:cNvSpPr/>
          <p:nvPr/>
        </p:nvSpPr>
        <p:spPr>
          <a:xfrm>
            <a:off x="179512" y="627534"/>
            <a:ext cx="8712968" cy="3139321"/>
          </a:xfrm>
          <a:prstGeom prst="rect">
            <a:avLst/>
          </a:prstGeom>
        </p:spPr>
        <p:txBody>
          <a:bodyPr wrap="square">
            <a:spAutoFit/>
          </a:bodyPr>
          <a:lstStyle/>
          <a:p>
            <a:r>
              <a:rPr lang="ru-RU" dirty="0"/>
              <a:t>Циклическая сортировка (</a:t>
            </a:r>
            <a:r>
              <a:rPr lang="en-US" dirty="0"/>
              <a:t>Cycle sort</a:t>
            </a:r>
            <a:r>
              <a:rPr lang="ru-RU" dirty="0"/>
              <a:t>) — это нестабильный алгоритм сортировки на месте, особенно полезный при сортировке массивов, содержащих элементы с узким диапазоном значений. Она основана на идее о том, что перестановку, которую нужно отсортировать, можно разделить на циклы, которые можно поворачивать по отдельности, чтобы получить отсортированный результат. Затем алгоритм выполняет серию перестановок, чтобы поместить каждый элемент на правильную позицию внутри цикла, пока все циклы не будут завершены и массив не будет отсортирован.</a:t>
            </a:r>
          </a:p>
          <a:p>
            <a:r>
              <a:rPr lang="ru-RU" dirty="0"/>
              <a:t>Каждое значение либо записывается ноль раз, если оно уже находится на правильном месте, либо записывается один раз на правильное место. Это соответствует минимальному количеству перезаписей, необходимых для завершения сортировки на месте.</a:t>
            </a:r>
          </a:p>
        </p:txBody>
      </p:sp>
      <p:pic>
        <p:nvPicPr>
          <p:cNvPr id="8194" name="Picture 2" descr="undefined"/>
          <p:cNvPicPr>
            <a:picLocks noChangeAspect="1" noChangeArrowheads="1"/>
          </p:cNvPicPr>
          <p:nvPr/>
        </p:nvPicPr>
        <p:blipFill>
          <a:blip r:embed="rId2" cstate="print"/>
          <a:srcRect/>
          <a:stretch>
            <a:fillRect/>
          </a:stretch>
        </p:blipFill>
        <p:spPr bwMode="auto">
          <a:xfrm>
            <a:off x="251520" y="4155926"/>
            <a:ext cx="8640960" cy="864097"/>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1"/>
          <p:cNvPicPr>
            <a:picLocks noChangeAspect="1" noChangeArrowheads="1"/>
          </p:cNvPicPr>
          <p:nvPr/>
        </p:nvPicPr>
        <p:blipFill>
          <a:blip r:embed="rId3" cstate="print"/>
          <a:srcRect/>
          <a:stretch>
            <a:fillRect/>
          </a:stretch>
        </p:blipFill>
        <p:spPr bwMode="auto">
          <a:xfrm>
            <a:off x="4815525" y="0"/>
            <a:ext cx="4328475" cy="5143500"/>
          </a:xfrm>
          <a:prstGeom prst="rect">
            <a:avLst/>
          </a:prstGeom>
          <a:noFill/>
          <a:ln w="9525">
            <a:noFill/>
            <a:miter lim="800000"/>
            <a:headEnd/>
            <a:tailEnd/>
          </a:ln>
          <a:effectLst/>
        </p:spPr>
      </p:pic>
      <p:sp>
        <p:nvSpPr>
          <p:cNvPr id="5" name="Прямоугольник 4"/>
          <p:cNvSpPr/>
          <p:nvPr/>
        </p:nvSpPr>
        <p:spPr>
          <a:xfrm>
            <a:off x="0" y="4497169"/>
            <a:ext cx="4572000" cy="646331"/>
          </a:xfrm>
          <a:prstGeom prst="rect">
            <a:avLst/>
          </a:prstGeom>
        </p:spPr>
        <p:txBody>
          <a:bodyPr wrap="square">
            <a:spAutoFit/>
          </a:bodyPr>
          <a:lstStyle/>
          <a:p>
            <a:r>
              <a:rPr lang="ru-RU" b="1" dirty="0"/>
              <a:t>Временная сложность: O(</a:t>
            </a:r>
            <a:r>
              <a:rPr lang="ru-RU" b="1" dirty="0" err="1"/>
              <a:t>n</a:t>
            </a:r>
            <a:r>
              <a:rPr lang="ru-RU" b="1" dirty="0"/>
              <a:t>²)</a:t>
            </a:r>
          </a:p>
          <a:p>
            <a:r>
              <a:rPr lang="ru-RU" b="1" dirty="0"/>
              <a:t>Пространственная сложность: O(1)</a:t>
            </a:r>
          </a:p>
        </p:txBody>
      </p:sp>
      <p:sp>
        <p:nvSpPr>
          <p:cNvPr id="6" name="Прямоугольник 5"/>
          <p:cNvSpPr/>
          <p:nvPr/>
        </p:nvSpPr>
        <p:spPr>
          <a:xfrm>
            <a:off x="107504" y="43334"/>
            <a:ext cx="4464496" cy="4216539"/>
          </a:xfrm>
          <a:prstGeom prst="rect">
            <a:avLst/>
          </a:prstGeom>
        </p:spPr>
        <p:txBody>
          <a:bodyPr wrap="square">
            <a:spAutoFit/>
          </a:bodyPr>
          <a:lstStyle/>
          <a:p>
            <a:r>
              <a:rPr lang="ru-RU" sz="1600" b="1" dirty="0"/>
              <a:t>Преимущества:</a:t>
            </a:r>
            <a:endParaRPr lang="ru-RU" sz="1600" dirty="0"/>
          </a:p>
          <a:p>
            <a:pPr lvl="0">
              <a:buFont typeface="Calibri" pitchFamily="34" charset="0"/>
              <a:buChar char="‐"/>
            </a:pPr>
            <a:r>
              <a:rPr lang="ru-RU" sz="1600" dirty="0"/>
              <a:t>«</a:t>
            </a:r>
            <a:r>
              <a:rPr lang="ru-RU" sz="1600" dirty="0" err="1"/>
              <a:t>in-place</a:t>
            </a:r>
            <a:r>
              <a:rPr lang="ru-RU" sz="1600" dirty="0"/>
              <a:t>» алгоритм - н</a:t>
            </a:r>
            <a:r>
              <a:rPr lang="ru-RU" sz="1700" dirty="0"/>
              <a:t>е требуется дополнительная память.</a:t>
            </a:r>
          </a:p>
          <a:p>
            <a:pPr lvl="0">
              <a:buFont typeface="Calibri" pitchFamily="34" charset="0"/>
              <a:buChar char="‐"/>
            </a:pPr>
            <a:r>
              <a:rPr lang="ru-RU" sz="1700" dirty="0"/>
              <a:t> Минимальное количество записей в память.</a:t>
            </a:r>
          </a:p>
          <a:p>
            <a:pPr lvl="0">
              <a:buFont typeface="Calibri" pitchFamily="34" charset="0"/>
              <a:buChar char="‐"/>
            </a:pPr>
            <a:r>
              <a:rPr lang="ru-RU" sz="1700" dirty="0"/>
              <a:t>Сортировка по циклу полезна, когда массив хранится в EEPROM или FLASH.</a:t>
            </a:r>
          </a:p>
          <a:p>
            <a:pPr lvl="0">
              <a:buFont typeface="Calibri" pitchFamily="34" charset="0"/>
              <a:buChar char="‐"/>
            </a:pPr>
            <a:endParaRPr lang="ru-RU" sz="800" dirty="0"/>
          </a:p>
          <a:p>
            <a:r>
              <a:rPr lang="ru-RU" sz="1600" b="1" dirty="0"/>
              <a:t>Недостатки:</a:t>
            </a:r>
            <a:endParaRPr lang="ru-RU" sz="1600" dirty="0"/>
          </a:p>
          <a:p>
            <a:pPr lvl="0">
              <a:buFont typeface="Calibri" pitchFamily="34" charset="0"/>
              <a:buChar char="‐"/>
            </a:pPr>
            <a:r>
              <a:rPr lang="ru-RU" sz="1700" dirty="0"/>
              <a:t>Используется редко.</a:t>
            </a:r>
          </a:p>
          <a:p>
            <a:pPr marL="87313" indent="-87313">
              <a:buFont typeface="Calibri" pitchFamily="34" charset="0"/>
              <a:buChar char="‐"/>
            </a:pPr>
            <a:r>
              <a:rPr lang="ru-RU" sz="1600" dirty="0"/>
              <a:t>Временная сложность O(</a:t>
            </a:r>
            <a:r>
              <a:rPr lang="ru-RU" sz="1600" dirty="0" err="1"/>
              <a:t>n</a:t>
            </a:r>
            <a:r>
              <a:rPr lang="ru-RU" sz="1600" dirty="0"/>
              <a:t>²) для всех случаев.</a:t>
            </a:r>
          </a:p>
          <a:p>
            <a:pPr lvl="0">
              <a:buFont typeface="Calibri" pitchFamily="34" charset="0"/>
              <a:buChar char="‐"/>
            </a:pPr>
            <a:r>
              <a:rPr lang="ru-RU" sz="1700" dirty="0"/>
              <a:t>Нестабильный алгоритм сортировки.</a:t>
            </a:r>
          </a:p>
          <a:p>
            <a:pPr lvl="0">
              <a:buFont typeface="Calibri" pitchFamily="34" charset="0"/>
              <a:buChar char="‐"/>
            </a:pPr>
            <a:endParaRPr lang="ru-RU" sz="800" dirty="0"/>
          </a:p>
          <a:p>
            <a:r>
              <a:rPr lang="ru-RU" sz="1700" b="1" dirty="0"/>
              <a:t>Применение:</a:t>
            </a:r>
            <a:endParaRPr lang="ru-RU" sz="1700" dirty="0"/>
          </a:p>
          <a:p>
            <a:pPr lvl="0">
              <a:buFont typeface="Calibri" pitchFamily="34" charset="0"/>
              <a:buChar char="‐"/>
            </a:pPr>
            <a:r>
              <a:rPr lang="ru-RU" sz="1700" dirty="0"/>
              <a:t>Этот алгоритм сортировки лучше всего подходит для ситуаций, когда операции записи или подкачки памяти требуют больших затрат.</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p:cNvSpPr>
            <a:spLocks noGrp="1"/>
          </p:cNvSpPr>
          <p:nvPr>
            <p:ph type="title"/>
          </p:nvPr>
        </p:nvSpPr>
        <p:spPr>
          <a:xfrm>
            <a:off x="0" y="-85700"/>
            <a:ext cx="9144000" cy="857250"/>
          </a:xfrm>
        </p:spPr>
        <p:txBody>
          <a:bodyPr>
            <a:normAutofit/>
          </a:bodyPr>
          <a:lstStyle/>
          <a:p>
            <a:r>
              <a:rPr lang="ru-RU" sz="3600" dirty="0"/>
              <a:t>Сортировка по цепочкам (</a:t>
            </a:r>
            <a:r>
              <a:rPr lang="en-US" sz="3600" dirty="0"/>
              <a:t>Strand Sort</a:t>
            </a:r>
            <a:r>
              <a:rPr lang="ru-RU" sz="3600" dirty="0"/>
              <a:t>)</a:t>
            </a:r>
          </a:p>
        </p:txBody>
      </p:sp>
      <p:sp>
        <p:nvSpPr>
          <p:cNvPr id="4" name="Прямоугольник 3"/>
          <p:cNvSpPr/>
          <p:nvPr/>
        </p:nvSpPr>
        <p:spPr>
          <a:xfrm>
            <a:off x="0" y="555526"/>
            <a:ext cx="5940152" cy="3431709"/>
          </a:xfrm>
          <a:prstGeom prst="rect">
            <a:avLst/>
          </a:prstGeom>
        </p:spPr>
        <p:txBody>
          <a:bodyPr wrap="square">
            <a:spAutoFit/>
          </a:bodyPr>
          <a:lstStyle/>
          <a:p>
            <a:r>
              <a:rPr lang="ru-RU" sz="1550" dirty="0"/>
              <a:t>Рекурсивный алгоритм сортировки, который сортирует элементы списка в порядке возрастания. Сначала алгоритм перемещает первый элемент списка во вспомогательный список. Затем он сравнивает последний элемент во вспомогательном списке с каждым последующим элементом в исходном списке. Как только в исходном списке появляется элемент, который больше последнего элемента во вспомогательном списке, этот элемент удаляется из исходного списка и добавляется во вспомогательный список, пока последний элемент во вспомогательном списке не будет сравнен с оставшимися элементами в исходном списке. Затем подсписок объединяется с новым списком. Процесс повторяется и объединяются все подсписки, пока все элементы не будут отсортированы. </a:t>
            </a:r>
          </a:p>
          <a:p>
            <a:endParaRPr lang="ru-RU" sz="1550" dirty="0"/>
          </a:p>
        </p:txBody>
      </p:sp>
      <p:sp>
        <p:nvSpPr>
          <p:cNvPr id="6" name="Прямоугольник 5"/>
          <p:cNvSpPr/>
          <p:nvPr/>
        </p:nvSpPr>
        <p:spPr>
          <a:xfrm>
            <a:off x="3779912" y="3795886"/>
            <a:ext cx="5292080" cy="1246495"/>
          </a:xfrm>
          <a:prstGeom prst="rect">
            <a:avLst/>
          </a:prstGeom>
        </p:spPr>
        <p:txBody>
          <a:bodyPr wrap="square">
            <a:spAutoFit/>
          </a:bodyPr>
          <a:lstStyle/>
          <a:p>
            <a:pPr marL="87313" indent="-87313">
              <a:buFont typeface="Calibri" pitchFamily="34" charset="0"/>
              <a:buChar char="‐"/>
            </a:pPr>
            <a:r>
              <a:rPr lang="ru-RU" sz="1500" dirty="0"/>
              <a:t>Он имеет </a:t>
            </a:r>
            <a:r>
              <a:rPr lang="ru-RU" sz="1500" b="1" i="1" dirty="0"/>
              <a:t>O</a:t>
            </a:r>
            <a:r>
              <a:rPr lang="ru-RU" sz="1500" b="1" dirty="0"/>
              <a:t>(</a:t>
            </a:r>
            <a:r>
              <a:rPr lang="ru-RU" sz="1500" b="1" i="1" dirty="0"/>
              <a:t>n</a:t>
            </a:r>
            <a:r>
              <a:rPr lang="ru-RU" sz="1500" b="1" baseline="30000" dirty="0"/>
              <a:t>2</a:t>
            </a:r>
            <a:r>
              <a:rPr lang="ru-RU" sz="1500" b="1" dirty="0"/>
              <a:t>)</a:t>
            </a:r>
            <a:r>
              <a:rPr lang="ru-RU" sz="1500" dirty="0"/>
              <a:t> наихудшую временную сложность, которая возникает при обратной сортировке входного списка. </a:t>
            </a:r>
          </a:p>
          <a:p>
            <a:pPr marL="87313" indent="-87313">
              <a:buFont typeface="Calibri" pitchFamily="34" charset="0"/>
              <a:buChar char="‐"/>
            </a:pPr>
            <a:r>
              <a:rPr lang="ru-RU" sz="1500" dirty="0"/>
              <a:t>Временная сложность в лучшем случае составляет </a:t>
            </a:r>
            <a:r>
              <a:rPr lang="ru-RU" sz="1500" b="1" i="1" dirty="0"/>
              <a:t>O</a:t>
            </a:r>
            <a:r>
              <a:rPr lang="ru-RU" sz="1500" b="1" dirty="0"/>
              <a:t>(</a:t>
            </a:r>
            <a:r>
              <a:rPr lang="ru-RU" sz="1500" b="1" i="1" dirty="0" err="1"/>
              <a:t>n</a:t>
            </a:r>
            <a:r>
              <a:rPr lang="ru-RU" sz="1500" b="1" dirty="0"/>
              <a:t>)</a:t>
            </a:r>
            <a:r>
              <a:rPr lang="ru-RU" sz="1500" dirty="0"/>
              <a:t>, что происходит, когда входные данные уже отсортированы. </a:t>
            </a:r>
          </a:p>
          <a:p>
            <a:pPr>
              <a:buFont typeface="Calibri" pitchFamily="34" charset="0"/>
              <a:buChar char="‐"/>
            </a:pPr>
            <a:r>
              <a:rPr lang="en-US" sz="1500" dirty="0"/>
              <a:t>«Not In-place» - </a:t>
            </a:r>
            <a:r>
              <a:rPr lang="ru-RU" sz="1500" dirty="0"/>
              <a:t>алгоритм. Пространственная сложность </a:t>
            </a:r>
            <a:r>
              <a:rPr lang="ru-RU" sz="1500" b="1" i="1" dirty="0"/>
              <a:t>O</a:t>
            </a:r>
            <a:r>
              <a:rPr lang="ru-RU" sz="1500" b="1" dirty="0"/>
              <a:t>(</a:t>
            </a:r>
            <a:r>
              <a:rPr lang="ru-RU" sz="1500" b="1" i="1" dirty="0" err="1"/>
              <a:t>n</a:t>
            </a:r>
            <a:r>
              <a:rPr lang="ru-RU" sz="1500" b="1" dirty="0"/>
              <a:t>).</a:t>
            </a:r>
            <a:endParaRPr lang="ru-RU" sz="1500" dirty="0"/>
          </a:p>
        </p:txBody>
      </p:sp>
      <p:pic>
        <p:nvPicPr>
          <p:cNvPr id="36867" name="Picture 3"/>
          <p:cNvPicPr>
            <a:picLocks noChangeAspect="1" noChangeArrowheads="1"/>
          </p:cNvPicPr>
          <p:nvPr/>
        </p:nvPicPr>
        <p:blipFill>
          <a:blip r:embed="rId2" cstate="print"/>
          <a:srcRect/>
          <a:stretch>
            <a:fillRect/>
          </a:stretch>
        </p:blipFill>
        <p:spPr bwMode="auto">
          <a:xfrm>
            <a:off x="5960478" y="683146"/>
            <a:ext cx="3183522" cy="2824708"/>
          </a:xfrm>
          <a:prstGeom prst="rect">
            <a:avLst/>
          </a:prstGeom>
          <a:noFill/>
          <a:ln w="9525">
            <a:noFill/>
            <a:miter lim="800000"/>
            <a:headEnd/>
            <a:tailEnd/>
          </a:ln>
          <a:effectLst/>
        </p:spPr>
      </p:pic>
      <p:pic>
        <p:nvPicPr>
          <p:cNvPr id="1030" name="Picture 6" descr="G:\Алгоритмы и структуры данных\Sorting Algoritms\640px-StrandSort.gif"/>
          <p:cNvPicPr>
            <a:picLocks noChangeAspect="1" noChangeArrowheads="1" noCrop="1"/>
          </p:cNvPicPr>
          <p:nvPr/>
        </p:nvPicPr>
        <p:blipFill>
          <a:blip r:embed="rId3" cstate="print"/>
          <a:srcRect/>
          <a:stretch>
            <a:fillRect/>
          </a:stretch>
        </p:blipFill>
        <p:spPr bwMode="auto">
          <a:xfrm>
            <a:off x="72008" y="3690053"/>
            <a:ext cx="3419872" cy="1453446"/>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2008" y="555526"/>
            <a:ext cx="5148064" cy="4801314"/>
          </a:xfrm>
          <a:prstGeom prst="rect">
            <a:avLst/>
          </a:prstGeom>
        </p:spPr>
        <p:txBody>
          <a:bodyPr wrap="square">
            <a:spAutoFit/>
          </a:bodyPr>
          <a:lstStyle/>
          <a:p>
            <a:r>
              <a:rPr lang="ru-RU" dirty="0"/>
              <a:t>Алгоритм, используемый для сортировки как по возрастанию, так и по убыванию. Он сравнивает первый элемент со всеми остальными элементами, и если какой-либо элемент находится в неправильном порядке, он меняет местами. </a:t>
            </a:r>
          </a:p>
          <a:p>
            <a:endParaRPr lang="ru-RU" sz="800" dirty="0"/>
          </a:p>
          <a:p>
            <a:r>
              <a:rPr lang="ru-RU" dirty="0"/>
              <a:t>Сортировку обменом иногда путают с пузырьковой сортировкой, хотя на самом деле эти алгоритмы различны. Сортировка обменом работает, сравнивая первый элемент со всеми элементами, расположенными выше него, меняя местами при необходимости, тем самым гарантируя, что первый элемент является правильным для окончательного порядка сортировки; затем она делает то же самое для второго элемента, и так далее. </a:t>
            </a:r>
          </a:p>
        </p:txBody>
      </p:sp>
      <p:sp>
        <p:nvSpPr>
          <p:cNvPr id="3" name="Заголовок 1"/>
          <p:cNvSpPr>
            <a:spLocks noGrp="1"/>
          </p:cNvSpPr>
          <p:nvPr>
            <p:ph type="title"/>
          </p:nvPr>
        </p:nvSpPr>
        <p:spPr>
          <a:xfrm>
            <a:off x="0" y="-85700"/>
            <a:ext cx="9144000" cy="857250"/>
          </a:xfrm>
        </p:spPr>
        <p:txBody>
          <a:bodyPr>
            <a:normAutofit/>
          </a:bodyPr>
          <a:lstStyle/>
          <a:p>
            <a:r>
              <a:rPr lang="ru-RU" sz="3600" dirty="0"/>
              <a:t>Сортировка обменом </a:t>
            </a:r>
            <a:r>
              <a:rPr lang="en-US" sz="3600" dirty="0"/>
              <a:t>(Exchange Sort)</a:t>
            </a:r>
            <a:endParaRPr lang="ru-RU" sz="3600" dirty="0"/>
          </a:p>
        </p:txBody>
      </p:sp>
      <p:pic>
        <p:nvPicPr>
          <p:cNvPr id="4" name="Picture 6"/>
          <p:cNvPicPr>
            <a:picLocks noChangeAspect="1" noChangeArrowheads="1"/>
          </p:cNvPicPr>
          <p:nvPr/>
        </p:nvPicPr>
        <p:blipFill>
          <a:blip r:embed="rId2" cstate="print"/>
          <a:srcRect/>
          <a:stretch>
            <a:fillRect/>
          </a:stretch>
        </p:blipFill>
        <p:spPr bwMode="auto">
          <a:xfrm>
            <a:off x="5220072" y="625700"/>
            <a:ext cx="3923928" cy="4517799"/>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nvGraphicFramePr>
        <p:xfrm>
          <a:off x="0" y="-436"/>
          <a:ext cx="9143999" cy="5143937"/>
        </p:xfrm>
        <a:graphic>
          <a:graphicData uri="http://schemas.openxmlformats.org/drawingml/2006/table">
            <a:tbl>
              <a:tblPr/>
              <a:tblGrid>
                <a:gridCol w="1117643">
                  <a:extLst>
                    <a:ext uri="{9D8B030D-6E8A-4147-A177-3AD203B41FA5}">
                      <a16:colId xmlns:a16="http://schemas.microsoft.com/office/drawing/2014/main" xmlns="" val="20000"/>
                    </a:ext>
                  </a:extLst>
                </a:gridCol>
                <a:gridCol w="634303">
                  <a:extLst>
                    <a:ext uri="{9D8B030D-6E8A-4147-A177-3AD203B41FA5}">
                      <a16:colId xmlns:a16="http://schemas.microsoft.com/office/drawing/2014/main" xmlns="" val="20001"/>
                    </a:ext>
                  </a:extLst>
                </a:gridCol>
                <a:gridCol w="681986">
                  <a:extLst>
                    <a:ext uri="{9D8B030D-6E8A-4147-A177-3AD203B41FA5}">
                      <a16:colId xmlns:a16="http://schemas.microsoft.com/office/drawing/2014/main" xmlns="" val="20002"/>
                    </a:ext>
                  </a:extLst>
                </a:gridCol>
                <a:gridCol w="634303">
                  <a:extLst>
                    <a:ext uri="{9D8B030D-6E8A-4147-A177-3AD203B41FA5}">
                      <a16:colId xmlns:a16="http://schemas.microsoft.com/office/drawing/2014/main" xmlns="" val="20003"/>
                    </a:ext>
                  </a:extLst>
                </a:gridCol>
                <a:gridCol w="634303">
                  <a:extLst>
                    <a:ext uri="{9D8B030D-6E8A-4147-A177-3AD203B41FA5}">
                      <a16:colId xmlns:a16="http://schemas.microsoft.com/office/drawing/2014/main" xmlns="" val="20004"/>
                    </a:ext>
                  </a:extLst>
                </a:gridCol>
                <a:gridCol w="973008">
                  <a:extLst>
                    <a:ext uri="{9D8B030D-6E8A-4147-A177-3AD203B41FA5}">
                      <a16:colId xmlns:a16="http://schemas.microsoft.com/office/drawing/2014/main" xmlns="" val="20005"/>
                    </a:ext>
                  </a:extLst>
                </a:gridCol>
                <a:gridCol w="612635">
                  <a:extLst>
                    <a:ext uri="{9D8B030D-6E8A-4147-A177-3AD203B41FA5}">
                      <a16:colId xmlns:a16="http://schemas.microsoft.com/office/drawing/2014/main" xmlns="" val="20006"/>
                    </a:ext>
                  </a:extLst>
                </a:gridCol>
                <a:gridCol w="864896">
                  <a:extLst>
                    <a:ext uri="{9D8B030D-6E8A-4147-A177-3AD203B41FA5}">
                      <a16:colId xmlns:a16="http://schemas.microsoft.com/office/drawing/2014/main" xmlns="" val="20007"/>
                    </a:ext>
                  </a:extLst>
                </a:gridCol>
                <a:gridCol w="2990922">
                  <a:extLst>
                    <a:ext uri="{9D8B030D-6E8A-4147-A177-3AD203B41FA5}">
                      <a16:colId xmlns:a16="http://schemas.microsoft.com/office/drawing/2014/main" xmlns="" val="20008"/>
                    </a:ext>
                  </a:extLst>
                </a:gridCol>
              </a:tblGrid>
              <a:tr h="248634">
                <a:tc>
                  <a:txBody>
                    <a:bodyPr/>
                    <a:lstStyle/>
                    <a:p>
                      <a:pPr algn="ctr" fontAlgn="b"/>
                      <a:r>
                        <a:rPr lang="ru-RU" sz="1400" b="1" i="0" u="none" strike="noStrike" dirty="0">
                          <a:solidFill>
                            <a:srgbClr val="202122"/>
                          </a:solidFill>
                          <a:latin typeface="+mn-lt"/>
                        </a:rPr>
                        <a:t>Имя</a:t>
                      </a:r>
                      <a:endParaRPr lang="ru-RU" sz="1400" b="0" i="0" u="none" strike="noStrike" dirty="0">
                        <a:solidFill>
                          <a:srgbClr val="000000"/>
                        </a:solidFill>
                        <a:latin typeface="+mn-lt"/>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tc>
                  <a:txBody>
                    <a:bodyPr/>
                    <a:lstStyle/>
                    <a:p>
                      <a:pPr algn="ctr" fontAlgn="ctr"/>
                      <a:r>
                        <a:rPr lang="ru-RU" sz="1400" b="1" i="0" u="none" strike="noStrike" dirty="0">
                          <a:solidFill>
                            <a:srgbClr val="202122"/>
                          </a:solidFill>
                          <a:latin typeface="+mn-lt"/>
                        </a:rPr>
                        <a:t>Лучшее</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tc>
                  <a:txBody>
                    <a:bodyPr/>
                    <a:lstStyle/>
                    <a:p>
                      <a:pPr algn="ctr" fontAlgn="b"/>
                      <a:r>
                        <a:rPr lang="ru-RU" sz="1400" b="1" i="0" u="none" strike="noStrike" dirty="0">
                          <a:solidFill>
                            <a:srgbClr val="202122"/>
                          </a:solidFill>
                          <a:latin typeface="+mn-lt"/>
                        </a:rPr>
                        <a:t>Среднее</a:t>
                      </a:r>
                      <a:endParaRPr lang="ru-RU" sz="1400" b="0" i="0" u="none" strike="noStrike" dirty="0">
                        <a:solidFill>
                          <a:srgbClr val="000000"/>
                        </a:solidFill>
                        <a:latin typeface="+mn-lt"/>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tc>
                  <a:txBody>
                    <a:bodyPr/>
                    <a:lstStyle/>
                    <a:p>
                      <a:pPr algn="ctr" fontAlgn="b"/>
                      <a:r>
                        <a:rPr lang="ru-RU" sz="1400" b="1" i="0" u="none" strike="noStrike" dirty="0">
                          <a:solidFill>
                            <a:srgbClr val="202122"/>
                          </a:solidFill>
                          <a:latin typeface="+mn-lt"/>
                        </a:rPr>
                        <a:t>Худшее</a:t>
                      </a:r>
                      <a:endParaRPr lang="ru-RU" sz="1400" b="0" i="0" u="none" strike="noStrike" dirty="0">
                        <a:solidFill>
                          <a:srgbClr val="000000"/>
                        </a:solidFill>
                        <a:latin typeface="+mn-lt"/>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tc>
                  <a:txBody>
                    <a:bodyPr/>
                    <a:lstStyle/>
                    <a:p>
                      <a:pPr algn="ctr" fontAlgn="ctr"/>
                      <a:r>
                        <a:rPr lang="ru-RU" sz="1400" b="1" i="0" u="none" strike="noStrike" dirty="0">
                          <a:solidFill>
                            <a:srgbClr val="202122"/>
                          </a:solidFill>
                          <a:latin typeface="+mn-lt"/>
                        </a:rPr>
                        <a:t>Память</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tc>
                  <a:txBody>
                    <a:bodyPr/>
                    <a:lstStyle/>
                    <a:p>
                      <a:pPr algn="ctr" fontAlgn="ctr"/>
                      <a:r>
                        <a:rPr lang="ru-RU" sz="1400" b="1" i="0" u="none" strike="noStrike" dirty="0">
                          <a:solidFill>
                            <a:srgbClr val="202122"/>
                          </a:solidFill>
                          <a:latin typeface="+mn-lt"/>
                        </a:rPr>
                        <a:t>Стабильный</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tc>
                  <a:txBody>
                    <a:bodyPr/>
                    <a:lstStyle/>
                    <a:p>
                      <a:pPr algn="ctr" fontAlgn="ctr"/>
                      <a:r>
                        <a:rPr lang="en-US" sz="1400" b="1" i="0" u="none" strike="noStrike" dirty="0">
                          <a:solidFill>
                            <a:srgbClr val="202122"/>
                          </a:solidFill>
                          <a:latin typeface="+mn-lt"/>
                        </a:rPr>
                        <a:t>In-place</a:t>
                      </a:r>
                      <a:endParaRPr lang="ru-RU" sz="1400" b="1" i="0" u="none" strike="noStrike" dirty="0">
                        <a:solidFill>
                          <a:srgbClr val="202122"/>
                        </a:solidFill>
                        <a:latin typeface="+mn-lt"/>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tc>
                  <a:txBody>
                    <a:bodyPr/>
                    <a:lstStyle/>
                    <a:p>
                      <a:pPr algn="ctr" fontAlgn="ctr"/>
                      <a:r>
                        <a:rPr lang="ru-RU" sz="1400" b="1" i="0" u="none" strike="noStrike" dirty="0">
                          <a:solidFill>
                            <a:srgbClr val="202122"/>
                          </a:solidFill>
                          <a:latin typeface="+mn-lt"/>
                        </a:rPr>
                        <a:t>Метод</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tc>
                  <a:txBody>
                    <a:bodyPr/>
                    <a:lstStyle/>
                    <a:p>
                      <a:pPr algn="ctr" fontAlgn="ctr"/>
                      <a:r>
                        <a:rPr lang="ru-RU" sz="1400" b="1" i="0" u="none" strike="noStrike" dirty="0">
                          <a:solidFill>
                            <a:srgbClr val="202122"/>
                          </a:solidFill>
                          <a:latin typeface="+mn-lt"/>
                        </a:rPr>
                        <a:t>Другие примечания</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xmlns="" val="10000"/>
                  </a:ext>
                </a:extLst>
              </a:tr>
              <a:tr h="400245">
                <a:tc>
                  <a:txBody>
                    <a:bodyPr/>
                    <a:lstStyle/>
                    <a:p>
                      <a:pPr algn="ctr" fontAlgn="b"/>
                      <a:r>
                        <a:rPr lang="en-US" sz="1400" b="0" i="0" u="none" strike="noStrike" dirty="0">
                          <a:solidFill>
                            <a:schemeClr val="tx1"/>
                          </a:solidFill>
                          <a:latin typeface="Calibri"/>
                        </a:rPr>
                        <a:t>Comb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en-US" sz="1400" b="0" i="1" u="none" strike="noStrike" dirty="0" err="1">
                          <a:solidFill>
                            <a:srgbClr val="202122"/>
                          </a:solidFill>
                          <a:latin typeface="Times New Roman" pitchFamily="18" charset="0"/>
                          <a:cs typeface="Times New Roman" pitchFamily="18" charset="0"/>
                        </a:rPr>
                        <a:t>nlog⁡n</a:t>
                      </a:r>
                      <a:endParaRPr lang="en-US" sz="1400" b="0" i="1" u="none" strike="noStrike" dirty="0">
                        <a:solidFill>
                          <a:srgbClr val="202122"/>
                        </a:solidFill>
                        <a:latin typeface="Times New Roman" pitchFamily="18" charset="0"/>
                        <a:cs typeface="Times New Roman" pitchFamily="18" charset="0"/>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FF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dirty="0">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0" u="none" strike="noStrike">
                          <a:solidFill>
                            <a:srgbClr val="202122"/>
                          </a:solidFill>
                          <a:latin typeface="+mn-lt"/>
                        </a:rPr>
                        <a:t>1</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No</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Exchanging</a:t>
                      </a:r>
                      <a:endParaRPr lang="ru-RU" sz="1300" b="0" i="0" u="none" strike="noStrike" dirty="0">
                        <a:solidFill>
                          <a:srgbClr val="202122"/>
                        </a:solidFill>
                        <a:latin typeface="+mn-lt"/>
                      </a:endParaRPr>
                    </a:p>
                    <a:p>
                      <a:pPr algn="ctr" fontAlgn="b"/>
                      <a:r>
                        <a:rPr lang="ru-RU" sz="1300" b="0" i="0" u="none" strike="noStrike" dirty="0">
                          <a:solidFill>
                            <a:srgbClr val="202122"/>
                          </a:solidFill>
                          <a:latin typeface="+mn-lt"/>
                        </a:rPr>
                        <a:t>(Обмен)</a:t>
                      </a:r>
                      <a:endParaRPr lang="en-US" sz="1300" b="0" i="0" u="none" strike="noStrike" dirty="0">
                        <a:solidFill>
                          <a:srgbClr val="202122"/>
                        </a:solidFill>
                        <a:latin typeface="+mn-lt"/>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Разновидность </a:t>
                      </a:r>
                      <a:r>
                        <a:rPr lang="ru-RU" sz="1200" b="0" i="0" u="none" strike="noStrike" dirty="0" err="1">
                          <a:solidFill>
                            <a:schemeClr val="tx1"/>
                          </a:solidFill>
                          <a:latin typeface="+mn-lt"/>
                        </a:rPr>
                        <a:t>Bubble</a:t>
                      </a:r>
                      <a:r>
                        <a:rPr lang="ru-RU" sz="1200" b="0" i="0" u="none" strike="noStrike" dirty="0">
                          <a:solidFill>
                            <a:schemeClr val="tx1"/>
                          </a:solidFill>
                          <a:latin typeface="+mn-lt"/>
                        </a:rPr>
                        <a:t> </a:t>
                      </a:r>
                      <a:r>
                        <a:rPr lang="ru-RU" sz="1200" b="0" i="0" u="none" strike="noStrike" dirty="0" err="1">
                          <a:solidFill>
                            <a:schemeClr val="tx1"/>
                          </a:solidFill>
                          <a:latin typeface="+mn-lt"/>
                        </a:rPr>
                        <a:t>Sort</a:t>
                      </a:r>
                      <a:r>
                        <a:rPr lang="ru-RU" sz="1200" b="0" i="0" u="none" strike="noStrike" dirty="0">
                          <a:solidFill>
                            <a:schemeClr val="tx1"/>
                          </a:solidFill>
                          <a:latin typeface="+mn-lt"/>
                        </a:rPr>
                        <a:t> с использованием динамически уменьшающегося интервала.</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1"/>
                  </a:ext>
                </a:extLst>
              </a:tr>
              <a:tr h="554185">
                <a:tc>
                  <a:txBody>
                    <a:bodyPr/>
                    <a:lstStyle/>
                    <a:p>
                      <a:pPr algn="ctr" fontAlgn="b"/>
                      <a:r>
                        <a:rPr lang="en-US" sz="1400" b="0" i="0" u="none" strike="noStrike" dirty="0">
                          <a:solidFill>
                            <a:schemeClr val="tx1"/>
                          </a:solidFill>
                          <a:latin typeface="Calibri"/>
                        </a:rPr>
                        <a:t>Insertion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en-US" sz="1400" b="0" i="1" u="none" strike="noStrike" dirty="0">
                          <a:solidFill>
                            <a:srgbClr val="202122"/>
                          </a:solidFill>
                          <a:latin typeface="Times New Roman"/>
                        </a:rPr>
                        <a:t>n</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000000"/>
                        </a:solidFill>
                        <a:latin typeface="Calibri"/>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000000"/>
                        </a:solidFill>
                        <a:latin typeface="Calibri"/>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0" u="none" strike="noStrike" dirty="0">
                          <a:solidFill>
                            <a:srgbClr val="202122"/>
                          </a:solidFill>
                          <a:latin typeface="+mn-lt"/>
                        </a:rPr>
                        <a:t>1</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Insertion</a:t>
                      </a:r>
                      <a:endParaRPr lang="ru-RU" sz="1300" b="0" i="0" u="none" strike="noStrike" dirty="0">
                        <a:solidFill>
                          <a:srgbClr val="202122"/>
                        </a:solidFill>
                        <a:latin typeface="+mn-lt"/>
                      </a:endParaRPr>
                    </a:p>
                    <a:p>
                      <a:pPr algn="ctr" fontAlgn="b"/>
                      <a:r>
                        <a:rPr lang="ru-RU" sz="1300" b="0" i="0" u="none" strike="noStrike" dirty="0">
                          <a:solidFill>
                            <a:srgbClr val="202122"/>
                          </a:solidFill>
                          <a:latin typeface="+mn-lt"/>
                        </a:rPr>
                        <a:t>(Вставка)</a:t>
                      </a:r>
                      <a:endParaRPr lang="en-US" sz="1300" b="0" i="0" u="none" strike="noStrike" dirty="0">
                        <a:solidFill>
                          <a:srgbClr val="202122"/>
                        </a:solidFill>
                        <a:latin typeface="+mn-lt"/>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Сортирует подобно картам, вставляя каждый новый элемент в правильную позицию внутри уже отсортированной части.</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2"/>
                  </a:ext>
                </a:extLst>
              </a:tr>
              <a:tr h="369457">
                <a:tc>
                  <a:txBody>
                    <a:bodyPr/>
                    <a:lstStyle/>
                    <a:p>
                      <a:pPr algn="ctr" fontAlgn="b"/>
                      <a:r>
                        <a:rPr lang="en-US" sz="1400" b="0" i="0" u="none" strike="noStrike" dirty="0">
                          <a:solidFill>
                            <a:schemeClr val="tx1"/>
                          </a:solidFill>
                          <a:latin typeface="Calibri"/>
                        </a:rPr>
                        <a:t>Bubble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en-US" sz="1400" b="0" i="1" u="none" strike="noStrike">
                          <a:solidFill>
                            <a:srgbClr val="202122"/>
                          </a:solidFill>
                          <a:latin typeface="Times New Roman"/>
                        </a:rPr>
                        <a:t>n</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dirty="0">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0" u="none" strike="noStrike" dirty="0">
                          <a:solidFill>
                            <a:srgbClr val="202122"/>
                          </a:solidFill>
                          <a:latin typeface="+mn-lt"/>
                        </a:rPr>
                        <a:t>1</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a:solidFill>
                            <a:srgbClr val="202122"/>
                          </a:solidFill>
                          <a:latin typeface="+mn-lt"/>
                        </a:rPr>
                        <a:t>Exchanging</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Постоянно сравнивает и меняет местами соседние элементы.</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3"/>
                  </a:ext>
                </a:extLst>
              </a:tr>
              <a:tr h="431033">
                <a:tc>
                  <a:txBody>
                    <a:bodyPr/>
                    <a:lstStyle/>
                    <a:p>
                      <a:pPr algn="ctr" fontAlgn="b"/>
                      <a:r>
                        <a:rPr lang="en-US" sz="1400" b="0" i="0" u="none" strike="noStrike" dirty="0">
                          <a:solidFill>
                            <a:schemeClr val="tx1"/>
                          </a:solidFill>
                          <a:latin typeface="Calibri"/>
                        </a:rPr>
                        <a:t>Cocktail shaker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en-US" sz="1400" b="0" i="1" u="none" strike="noStrike">
                          <a:solidFill>
                            <a:srgbClr val="202122"/>
                          </a:solidFill>
                          <a:latin typeface="Times New Roman"/>
                        </a:rPr>
                        <a:t>n</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000000"/>
                        </a:solidFill>
                        <a:latin typeface="Calibri"/>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a:solidFill>
                          <a:srgbClr val="000000"/>
                        </a:solidFill>
                        <a:latin typeface="Calibri"/>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0" u="none" strike="noStrike" dirty="0">
                          <a:solidFill>
                            <a:srgbClr val="202122"/>
                          </a:solidFill>
                          <a:latin typeface="+mn-lt"/>
                        </a:rPr>
                        <a:t>1</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Exchanging</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Двунаправленный вариант </a:t>
                      </a:r>
                      <a:r>
                        <a:rPr lang="ru-RU" sz="1200" b="0" i="0" u="none" strike="noStrike" dirty="0" err="1">
                          <a:solidFill>
                            <a:schemeClr val="tx1"/>
                          </a:solidFill>
                          <a:latin typeface="+mn-lt"/>
                        </a:rPr>
                        <a:t>Bubble</a:t>
                      </a:r>
                      <a:r>
                        <a:rPr lang="ru-RU" sz="1200" b="0" i="0" u="none" strike="noStrike" dirty="0">
                          <a:solidFill>
                            <a:schemeClr val="tx1"/>
                          </a:solidFill>
                          <a:latin typeface="+mn-lt"/>
                        </a:rPr>
                        <a:t> </a:t>
                      </a:r>
                      <a:r>
                        <a:rPr lang="ru-RU" sz="1200" b="0" i="0" u="none" strike="noStrike" dirty="0" err="1">
                          <a:solidFill>
                            <a:schemeClr val="tx1"/>
                          </a:solidFill>
                          <a:latin typeface="+mn-lt"/>
                        </a:rPr>
                        <a:t>Sort</a:t>
                      </a:r>
                      <a:r>
                        <a:rPr lang="ru-RU" sz="1200" b="0" i="0" u="none" strike="noStrike" dirty="0">
                          <a:solidFill>
                            <a:schemeClr val="tx1"/>
                          </a:solidFill>
                          <a:latin typeface="+mn-lt"/>
                        </a:rPr>
                        <a:t> (</a:t>
                      </a:r>
                      <a:r>
                        <a:rPr lang="ru-RU" sz="1200" b="0" i="0" u="none" strike="noStrike" dirty="0" err="1">
                          <a:solidFill>
                            <a:schemeClr val="tx1"/>
                          </a:solidFill>
                          <a:latin typeface="+mn-lt"/>
                        </a:rPr>
                        <a:t>слева-направо</a:t>
                      </a:r>
                      <a:r>
                        <a:rPr lang="ru-RU" sz="1200" b="0" i="0" u="none" strike="noStrike" dirty="0">
                          <a:solidFill>
                            <a:schemeClr val="tx1"/>
                          </a:solidFill>
                          <a:latin typeface="+mn-lt"/>
                        </a:rPr>
                        <a:t> и </a:t>
                      </a:r>
                      <a:r>
                        <a:rPr lang="ru-RU" sz="1200" b="0" i="0" u="none" strike="noStrike" dirty="0" err="1">
                          <a:solidFill>
                            <a:schemeClr val="tx1"/>
                          </a:solidFill>
                          <a:latin typeface="+mn-lt"/>
                        </a:rPr>
                        <a:t>справа-налево</a:t>
                      </a:r>
                      <a:r>
                        <a:rPr lang="ru-RU" sz="1200" b="0" i="0" u="none" strike="noStrike" dirty="0">
                          <a:solidFill>
                            <a:schemeClr val="tx1"/>
                          </a:solidFill>
                          <a:latin typeface="+mn-lt"/>
                        </a:rPr>
                        <a: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4"/>
                  </a:ext>
                </a:extLst>
              </a:tr>
              <a:tr h="738914">
                <a:tc>
                  <a:txBody>
                    <a:bodyPr/>
                    <a:lstStyle/>
                    <a:p>
                      <a:pPr algn="ctr" fontAlgn="b"/>
                      <a:r>
                        <a:rPr lang="en-US" sz="1400" b="0" i="0" u="none" strike="noStrike" dirty="0">
                          <a:solidFill>
                            <a:schemeClr val="tx1"/>
                          </a:solidFill>
                          <a:latin typeface="Calibri"/>
                        </a:rPr>
                        <a:t>Gnome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en-US" sz="1400" b="0" i="1" u="none" strike="noStrike">
                          <a:solidFill>
                            <a:srgbClr val="202122"/>
                          </a:solidFill>
                          <a:latin typeface="Times New Roman"/>
                        </a:rPr>
                        <a:t>n</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000000"/>
                        </a:solidFill>
                        <a:latin typeface="Calibri"/>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000000"/>
                        </a:solidFill>
                        <a:latin typeface="Calibri"/>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0" u="none" strike="noStrike">
                          <a:solidFill>
                            <a:srgbClr val="202122"/>
                          </a:solidFill>
                          <a:latin typeface="+mn-lt"/>
                        </a:rPr>
                        <a:t>1</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Exchanging</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Движется вперёд, если порядок правильный, и меняет местами + отступает на шаг, если порядок нарушен. Использует всего один цикл и один указатель.</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5"/>
                  </a:ext>
                </a:extLst>
              </a:tr>
              <a:tr h="369457">
                <a:tc>
                  <a:txBody>
                    <a:bodyPr/>
                    <a:lstStyle/>
                    <a:p>
                      <a:pPr algn="ctr" fontAlgn="b"/>
                      <a:r>
                        <a:rPr lang="en-US" sz="1400" b="0" i="0" u="none" strike="noStrike" dirty="0">
                          <a:solidFill>
                            <a:schemeClr val="tx1"/>
                          </a:solidFill>
                          <a:latin typeface="Calibri"/>
                        </a:rPr>
                        <a:t>Odd–even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en-US" sz="1400" b="0" i="1" u="none" strike="noStrike" dirty="0">
                          <a:solidFill>
                            <a:srgbClr val="202122"/>
                          </a:solidFill>
                          <a:latin typeface="Times New Roman"/>
                        </a:rPr>
                        <a:t>n</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000000"/>
                        </a:solidFill>
                        <a:latin typeface="Calibri"/>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000000"/>
                        </a:solidFill>
                        <a:latin typeface="Calibri"/>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0" u="none" strike="noStrike" dirty="0">
                          <a:solidFill>
                            <a:srgbClr val="202122"/>
                          </a:solidFill>
                          <a:latin typeface="+mn-lt"/>
                        </a:rPr>
                        <a:t>1</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Exchanging</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Сравнение и обмен чётных/нечётных пар.</a:t>
                      </a:r>
                      <a:r>
                        <a:rPr lang="en-US" sz="1200" b="0" i="0" u="none" strike="noStrike" dirty="0">
                          <a:solidFill>
                            <a:schemeClr val="tx1"/>
                          </a:solidFill>
                          <a:latin typeface="+mn-lt"/>
                        </a:rPr>
                        <a:t> </a:t>
                      </a:r>
                      <a:r>
                        <a:rPr lang="ru-RU" sz="1200" b="0" i="0" u="none" strike="noStrike" dirty="0">
                          <a:solidFill>
                            <a:schemeClr val="tx1"/>
                          </a:solidFill>
                          <a:latin typeface="+mn-lt"/>
                        </a:rPr>
                        <a:t>Алгоритм для параллельных вычислений.</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6"/>
                  </a:ext>
                </a:extLst>
              </a:tr>
              <a:tr h="369457">
                <a:tc>
                  <a:txBody>
                    <a:bodyPr/>
                    <a:lstStyle/>
                    <a:p>
                      <a:pPr algn="ctr" fontAlgn="b"/>
                      <a:r>
                        <a:rPr lang="en-US" sz="1400" b="0" i="0" u="none" strike="noStrike" dirty="0">
                          <a:solidFill>
                            <a:schemeClr val="tx1"/>
                          </a:solidFill>
                          <a:latin typeface="Calibri"/>
                        </a:rPr>
                        <a:t>Strand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en-US" sz="1400" b="0" i="1" u="none" strike="noStrike" dirty="0">
                          <a:solidFill>
                            <a:srgbClr val="202122"/>
                          </a:solidFill>
                          <a:latin typeface="Times New Roman"/>
                        </a:rPr>
                        <a:t>n</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en-US" sz="1400" b="0" i="1" u="none" strike="noStrike" dirty="0">
                          <a:solidFill>
                            <a:srgbClr val="202122"/>
                          </a:solidFill>
                          <a:latin typeface="Times New Roman" pitchFamily="18" charset="0"/>
                          <a:cs typeface="Times New Roman" pitchFamily="18" charset="0"/>
                        </a:rPr>
                        <a:t>n</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No</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en-US" sz="1300" b="0" i="0" u="none" strike="noStrike">
                          <a:solidFill>
                            <a:srgbClr val="202122"/>
                          </a:solidFill>
                          <a:latin typeface="+mn-lt"/>
                        </a:rPr>
                        <a:t>Selection</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Извлекает отсортированные</a:t>
                      </a:r>
                      <a:r>
                        <a:rPr lang="en-US" sz="1200" b="0" i="0" u="none" strike="noStrike" baseline="0" dirty="0">
                          <a:solidFill>
                            <a:schemeClr val="tx1"/>
                          </a:solidFill>
                          <a:latin typeface="+mn-lt"/>
                        </a:rPr>
                        <a:t> </a:t>
                      </a:r>
                      <a:r>
                        <a:rPr lang="ru-RU" sz="1200" b="0" i="0" u="none" strike="noStrike" dirty="0">
                          <a:solidFill>
                            <a:schemeClr val="tx1"/>
                          </a:solidFill>
                          <a:latin typeface="+mn-lt"/>
                        </a:rPr>
                        <a:t>цепи (нити) из исходного списка и объединяет их.</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7"/>
                  </a:ext>
                </a:extLst>
              </a:tr>
              <a:tr h="554185">
                <a:tc>
                  <a:txBody>
                    <a:bodyPr/>
                    <a:lstStyle/>
                    <a:p>
                      <a:pPr algn="ctr" fontAlgn="b"/>
                      <a:r>
                        <a:rPr lang="en-US" sz="1400" b="0" i="0" u="none" strike="noStrike" dirty="0">
                          <a:solidFill>
                            <a:schemeClr val="tx1"/>
                          </a:solidFill>
                          <a:latin typeface="Calibri"/>
                        </a:rPr>
                        <a:t>Selection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1400" b="0" i="1">
                          <a:latin typeface="Times New Roman" pitchFamily="18" charset="0"/>
                          <a:cs typeface="Times New Roman" pitchFamily="18" charset="0"/>
                        </a:rPr>
                        <a:t>n²</a:t>
                      </a:r>
                      <a:endParaRPr lang="en-US" sz="1400" b="0" i="1" u="none" strike="noStrike" dirty="0">
                        <a:solidFill>
                          <a:srgbClr val="202122"/>
                        </a:solidFill>
                        <a:latin typeface="Times New Roman" pitchFamily="18" charset="0"/>
                        <a:cs typeface="Times New Roman" pitchFamily="18" charset="0"/>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0" u="none" strike="noStrike" dirty="0">
                          <a:solidFill>
                            <a:srgbClr val="202122"/>
                          </a:solidFill>
                          <a:latin typeface="+mn-lt"/>
                        </a:rPr>
                        <a:t>1</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a:solidFill>
                            <a:srgbClr val="202122"/>
                          </a:solidFill>
                          <a:latin typeface="+mn-lt"/>
                        </a:rPr>
                        <a:t>No</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Selection</a:t>
                      </a:r>
                      <a:endParaRPr lang="ru-RU" sz="1300" b="0" i="0" u="none" strike="noStrike" dirty="0">
                        <a:solidFill>
                          <a:srgbClr val="202122"/>
                        </a:solidFill>
                        <a:latin typeface="+mn-lt"/>
                      </a:endParaRPr>
                    </a:p>
                    <a:p>
                      <a:pPr algn="ctr" fontAlgn="b"/>
                      <a:r>
                        <a:rPr lang="ru-RU" sz="1300" b="0" i="0" u="none" strike="noStrike" dirty="0">
                          <a:solidFill>
                            <a:srgbClr val="202122"/>
                          </a:solidFill>
                          <a:latin typeface="+mn-lt"/>
                        </a:rPr>
                        <a:t>(Выбор)</a:t>
                      </a:r>
                      <a:endParaRPr lang="en-US" sz="1300" b="0" i="0" u="none" strike="noStrike" dirty="0">
                        <a:solidFill>
                          <a:srgbClr val="000000"/>
                        </a:solidFill>
                        <a:latin typeface="+mn-lt"/>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Поиск минимума в </a:t>
                      </a:r>
                      <a:r>
                        <a:rPr lang="ru-RU" sz="1200" b="0" i="0" u="none" strike="noStrike" dirty="0" err="1">
                          <a:solidFill>
                            <a:schemeClr val="tx1"/>
                          </a:solidFill>
                          <a:latin typeface="+mn-lt"/>
                        </a:rPr>
                        <a:t>неотсортированной</a:t>
                      </a:r>
                      <a:r>
                        <a:rPr lang="ru-RU" sz="1200" b="0" i="0" u="none" strike="noStrike" dirty="0">
                          <a:solidFill>
                            <a:schemeClr val="tx1"/>
                          </a:solidFill>
                          <a:latin typeface="+mn-lt"/>
                        </a:rPr>
                        <a:t> части и обмен с её первым элементом. Минимальное количество обменов.</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8"/>
                  </a:ext>
                </a:extLst>
              </a:tr>
              <a:tr h="554185">
                <a:tc>
                  <a:txBody>
                    <a:bodyPr/>
                    <a:lstStyle/>
                    <a:p>
                      <a:pPr algn="ctr" fontAlgn="b"/>
                      <a:r>
                        <a:rPr lang="en-US" sz="1400" b="0" i="0" u="none" strike="noStrike" dirty="0">
                          <a:solidFill>
                            <a:schemeClr val="tx1"/>
                          </a:solidFill>
                          <a:latin typeface="Calibri"/>
                        </a:rPr>
                        <a:t>Exchange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0" u="none" strike="noStrike" dirty="0">
                          <a:solidFill>
                            <a:srgbClr val="202122"/>
                          </a:solidFill>
                          <a:latin typeface="+mn-lt"/>
                        </a:rPr>
                        <a:t>1</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a:solidFill>
                            <a:srgbClr val="202122"/>
                          </a:solidFill>
                          <a:latin typeface="+mn-lt"/>
                        </a:rPr>
                        <a:t>No</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a:solidFill>
                            <a:srgbClr val="202122"/>
                          </a:solidFill>
                          <a:latin typeface="+mn-lt"/>
                        </a:rPr>
                        <a:t>Exchanging</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Для каждого элемента сравнивает и обменивает его со всеми последующими, если нужно.</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09"/>
                  </a:ext>
                </a:extLst>
              </a:tr>
              <a:tr h="554185">
                <a:tc>
                  <a:txBody>
                    <a:bodyPr/>
                    <a:lstStyle/>
                    <a:p>
                      <a:pPr algn="ctr" fontAlgn="b"/>
                      <a:r>
                        <a:rPr lang="en-US" sz="1400" b="0" i="0" u="none" strike="noStrike" dirty="0">
                          <a:solidFill>
                            <a:schemeClr val="tx1"/>
                          </a:solidFill>
                          <a:latin typeface="Calibri"/>
                        </a:rPr>
                        <a:t>Cycle sort</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a:latin typeface="Times New Roman" pitchFamily="18" charset="0"/>
                          <a:cs typeface="Times New Roman" pitchFamily="18" charset="0"/>
                        </a:rPr>
                        <a:t>n²</a:t>
                      </a:r>
                      <a:endParaRPr lang="en-US" sz="1400" b="0" i="1" u="none" strike="noStrike">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1" dirty="0" err="1">
                          <a:latin typeface="Times New Roman" pitchFamily="18" charset="0"/>
                          <a:cs typeface="Times New Roman" pitchFamily="18" charset="0"/>
                        </a:rPr>
                        <a:t>n</a:t>
                      </a:r>
                      <a:r>
                        <a:rPr lang="ru-RU" sz="1400" b="0" i="1" dirty="0">
                          <a:latin typeface="Times New Roman" pitchFamily="18" charset="0"/>
                          <a:cs typeface="Times New Roman" pitchFamily="18" charset="0"/>
                        </a:rPr>
                        <a:t>²</a:t>
                      </a:r>
                      <a:endParaRPr lang="en-US" sz="1400" b="0" i="1" u="none" strike="noStrike" dirty="0">
                        <a:solidFill>
                          <a:srgbClr val="202122"/>
                        </a:solidFill>
                        <a:latin typeface="Arial"/>
                      </a:endParaRP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ru-RU" sz="1400" b="0" i="0" u="none" strike="noStrike" dirty="0">
                          <a:solidFill>
                            <a:srgbClr val="202122"/>
                          </a:solidFill>
                          <a:latin typeface="+mn-lt"/>
                        </a:rPr>
                        <a:t>1</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No</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FDDDD"/>
                    </a:solidFill>
                  </a:tcPr>
                </a:tc>
                <a:tc>
                  <a:txBody>
                    <a:bodyPr/>
                    <a:lstStyle/>
                    <a:p>
                      <a:pPr algn="ctr" fontAlgn="b"/>
                      <a:r>
                        <a:rPr lang="en-US" sz="1300" b="0" i="0" u="none" strike="noStrike" dirty="0">
                          <a:solidFill>
                            <a:srgbClr val="202122"/>
                          </a:solidFill>
                          <a:latin typeface="+mn-lt"/>
                        </a:rPr>
                        <a:t>Yes</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DDFFDD"/>
                    </a:solidFill>
                  </a:tcPr>
                </a:tc>
                <a:tc>
                  <a:txBody>
                    <a:bodyPr/>
                    <a:lstStyle/>
                    <a:p>
                      <a:pPr algn="ctr" fontAlgn="b"/>
                      <a:r>
                        <a:rPr lang="en-US" sz="1300" b="0" i="0" u="none" strike="noStrike" dirty="0">
                          <a:solidFill>
                            <a:srgbClr val="202122"/>
                          </a:solidFill>
                          <a:latin typeface="+mn-lt"/>
                        </a:rPr>
                        <a:t>Selection</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algn="ctr" fontAlgn="b"/>
                      <a:r>
                        <a:rPr lang="ru-RU" sz="1200" b="0" i="0" u="none" strike="noStrike" dirty="0">
                          <a:solidFill>
                            <a:schemeClr val="tx1"/>
                          </a:solidFill>
                          <a:latin typeface="+mn-lt"/>
                        </a:rPr>
                        <a:t>Минимизирует количество операций записи, производя обмены только в рамках циклов (находит место для каждого элемента).</a:t>
                      </a:r>
                    </a:p>
                  </a:txBody>
                  <a:tcPr marL="0" marR="0" marT="0" marB="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xmlns="" val="10010"/>
                  </a:ext>
                </a:extLst>
              </a:tr>
            </a:tbl>
          </a:graphicData>
        </a:graphic>
      </p:graphicFrame>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1307</TotalTime>
  <Words>2201</Words>
  <Application>Microsoft Office PowerPoint</Application>
  <PresentationFormat>Экран (16:9)</PresentationFormat>
  <Paragraphs>252</Paragraphs>
  <Slides>21</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21</vt:i4>
      </vt:variant>
    </vt:vector>
  </HeadingPairs>
  <TitlesOfParts>
    <vt:vector size="22" baseType="lpstr">
      <vt:lpstr>Тема Office</vt:lpstr>
      <vt:lpstr>Алгоритмы сортировки массива: классификация. Примеры алгоритмов сортировки за полиномиальное время.</vt:lpstr>
      <vt:lpstr>Алгоритмы сортировки массива</vt:lpstr>
      <vt:lpstr>Слайд 3</vt:lpstr>
      <vt:lpstr>Слайд 4</vt:lpstr>
      <vt:lpstr>Слайд 5</vt:lpstr>
      <vt:lpstr>Слайд 6</vt:lpstr>
      <vt:lpstr>Слайд 7</vt:lpstr>
      <vt:lpstr>Пузырьковая сортировка (Bubble Sort)</vt:lpstr>
      <vt:lpstr>Слайд 9</vt:lpstr>
      <vt:lpstr>Сортировка перемешиванием (Cocktail Shaker Sort)</vt:lpstr>
      <vt:lpstr>Сортировка расчёской (Comb Sort)</vt:lpstr>
      <vt:lpstr>Сортировка вставкой (Insertion Sort)</vt:lpstr>
      <vt:lpstr>Слайд 13</vt:lpstr>
      <vt:lpstr>Слайд 14</vt:lpstr>
      <vt:lpstr>Слайд 15</vt:lpstr>
      <vt:lpstr>Гномья сортировка(Gnome Sort)</vt:lpstr>
      <vt:lpstr>Циклическая сортировка (Cycle sort)</vt:lpstr>
      <vt:lpstr>Слайд 18</vt:lpstr>
      <vt:lpstr>Сортировка по цепочкам (Strand Sort)</vt:lpstr>
      <vt:lpstr>Сортировка обменом (Exchange Sort)</vt:lpstr>
      <vt:lpstr>Слайд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Структуры данных: деревья, алгоритмы прохода по дереву.</dc:title>
  <dc:creator>Салями-Молекула</dc:creator>
  <cp:lastModifiedBy>Салями-Молекула</cp:lastModifiedBy>
  <cp:revision>156</cp:revision>
  <dcterms:created xsi:type="dcterms:W3CDTF">2025-10-12T14:43:10Z</dcterms:created>
  <dcterms:modified xsi:type="dcterms:W3CDTF">2026-02-14T12:07:15Z</dcterms:modified>
</cp:coreProperties>
</file>